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1173" r:id="rId2"/>
    <p:sldId id="1212" r:id="rId3"/>
    <p:sldId id="1213" r:id="rId4"/>
    <p:sldId id="1233" r:id="rId5"/>
    <p:sldId id="1259" r:id="rId6"/>
    <p:sldId id="1250" r:id="rId7"/>
    <p:sldId id="260" r:id="rId8"/>
    <p:sldId id="1252" r:id="rId9"/>
    <p:sldId id="1298" r:id="rId10"/>
    <p:sldId id="1299" r:id="rId11"/>
    <p:sldId id="266" r:id="rId12"/>
    <p:sldId id="267" r:id="rId13"/>
    <p:sldId id="268" r:id="rId14"/>
    <p:sldId id="269" r:id="rId15"/>
    <p:sldId id="1253" r:id="rId16"/>
    <p:sldId id="1255" r:id="rId17"/>
    <p:sldId id="1256" r:id="rId18"/>
    <p:sldId id="1217" r:id="rId19"/>
  </p:sldIdLst>
  <p:sldSz cx="9144000" cy="5143500" type="screen16x9"/>
  <p:notesSz cx="6858000" cy="9144000"/>
  <p:custDataLst>
    <p:tags r:id="rId22"/>
  </p:custDataLst>
  <p:defaultTextStyle>
    <a:defPPr>
      <a:defRPr lang="en-US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6" pos="528" userDrawn="1">
          <p15:clr>
            <a:srgbClr val="A4A3A4"/>
          </p15:clr>
        </p15:guide>
        <p15:guide id="7" pos="7152" userDrawn="1">
          <p15:clr>
            <a:srgbClr val="A4A3A4"/>
          </p15:clr>
        </p15:guide>
        <p15:guide id="8" orient="horz" pos="1620">
          <p15:clr>
            <a:srgbClr val="A4A3A4"/>
          </p15:clr>
        </p15:guide>
        <p15:guide id="9" pos="2880">
          <p15:clr>
            <a:srgbClr val="A4A3A4"/>
          </p15:clr>
        </p15:guide>
        <p15:guide id="10" pos="396">
          <p15:clr>
            <a:srgbClr val="A4A3A4"/>
          </p15:clr>
        </p15:guide>
        <p15:guide id="11" pos="536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4A"/>
    <a:srgbClr val="31779F"/>
    <a:srgbClr val="539059"/>
    <a:srgbClr val="333333"/>
    <a:srgbClr val="1C1C1C"/>
    <a:srgbClr val="FFF6EF"/>
    <a:srgbClr val="005BAB"/>
    <a:srgbClr val="007DC5"/>
    <a:srgbClr val="C4C4C4"/>
    <a:srgbClr val="BCB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434" autoAdjust="0"/>
  </p:normalViewPr>
  <p:slideViewPr>
    <p:cSldViewPr snapToGrid="0">
      <p:cViewPr varScale="1">
        <p:scale>
          <a:sx n="160" d="100"/>
          <a:sy n="160" d="100"/>
        </p:scale>
        <p:origin x="432" y="120"/>
      </p:cViewPr>
      <p:guideLst>
        <p:guide orient="horz" pos="2160"/>
        <p:guide pos="3840"/>
        <p:guide pos="528"/>
        <p:guide pos="7152"/>
        <p:guide orient="horz" pos="1620"/>
        <p:guide pos="2880"/>
        <p:guide pos="396"/>
        <p:guide pos="536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4" d="100"/>
        <a:sy n="64" d="100"/>
      </p:scale>
      <p:origin x="0" y="0"/>
    </p:cViewPr>
  </p:sorterViewPr>
  <p:notesViewPr>
    <p:cSldViewPr snapToGrid="0" showGuides="1">
      <p:cViewPr varScale="1">
        <p:scale>
          <a:sx n="88" d="100"/>
          <a:sy n="88" d="100"/>
        </p:scale>
        <p:origin x="3822" y="102"/>
      </p:cViewPr>
      <p:guideLst/>
    </p:cSldViewPr>
  </p:notesViewPr>
  <p:gridSpacing cx="457200" cy="457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2253F-1DC1-44AB-85F9-14DB9D873A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8A4E4-7001-4196-8720-A0FCB0AEB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1813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4D076-05C0-4F10-BAEB-F2DA581BE89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E7B7F8-81FA-46DC-8926-8D6B124E5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55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E7B7F8-81FA-46DC-8926-8D6B124E54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668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E7B7F8-81FA-46DC-8926-8D6B124E54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49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E7B7F8-81FA-46DC-8926-8D6B124E54D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2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E7B7F8-81FA-46DC-8926-8D6B124E54D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29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8B29-85C9-65BB-B07F-135B76393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1038B2-2004-544C-969F-12E03F249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47404F-4BD8-10ED-17FA-82B917511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BCFE74-F150-095C-4C80-50C4316FEA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E7B7F8-81FA-46DC-8926-8D6B124E54D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554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EEB69-D0FD-627C-B551-A828EA64E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5D7CF9-24A9-1F80-CF33-76FBC6E55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C7CF29-65A6-C28A-D712-F58C7D784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E3A465-7F49-8737-ACDF-640BAC8099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E7B7F8-81FA-46DC-8926-8D6B124E54D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91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前，劳动者维权面临着三大痛点。首先是信息与能力的鸿沟，许多人对维权流程感到迷茫，不知如何整理证据，也不会写法律文书。其次，现有的法律服务要么门槛太高，要么服务不完整，要么费用昂贵。然而，随着AI大模型和OCR等技术的成熟，我们看到了填补这一市场空白的巨大机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E7B7F8-81FA-46DC-8926-8D6B124E54D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平台的第一个关键功能是智能引导。用户一进入平台，就会通过简单的问答被引导到正确的功能入口，避免在复杂的功能中迷失。同时，我们将复杂的法律流程转化为通俗易懂的指南，并聚合了大量的案例和FAQ，让用户可以自助解决大部分常见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法律咨询是我们平台的核心亮点。用户可以用大白话提问，AI会给出结论优先的通俗回答，并且每一条回答都会附上法律依据，确保专业性和可信度。AI还能理解上下文，提供更精准的建议，所有的咨询记录都会被保存，方便用户随时回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证据管理是劳动者维权过程中最头疼的问题之一。我们的平台通过引入先进的OCR技术，能够自动识别用户上传的聊天记录、工资流水等各种证据材料，极大地解放了用户的双手。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更重要的是，我们提供了强大的可视化功能。系统能自动生成“证据时间线”，将所有证据按时间顺序排列，形成清晰的事实叙事；同时还能构建“案件关系网”，利用知识图谱技术将涉及的人物、单位和事件关联起来，让复杂的案情一目了然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此外，系统还会对证据进行系统化管理，并智能提示用户可能缺失的关键证据，确保用户的证据准备工作更加全面、充分。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合同审查和文书生成方面，我们平台同样提供了强大的支持。用户可以上传劳动合同，平台会从劳动者的视角出发，审查其中的风险条款。对于维权所需的各类法律文书，我们提供了标准模板，并能根据用户填写的案件信息自动填充，极大地简化了文书撰写的难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E7B7F8-81FA-46DC-8926-8D6B124E54D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E7B7F8-81FA-46DC-8926-8D6B124E54D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E7B7F8-81FA-46DC-8926-8D6B124E54D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E7B7F8-81FA-46DC-8926-8D6B124E54D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706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054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6302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861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6605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476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9776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4250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9663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047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843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6842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941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5899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976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9760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4854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9760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9760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4854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485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9760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F4D7323-DF1F-49BE-99C6-8C046F370B78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4D1D9CD-B65A-420F-A280-ADC474E513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2861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627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080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2" r:id="rId6"/>
    <p:sldLayoutId id="2147483667" r:id="rId7"/>
    <p:sldLayoutId id="2147483666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9.emf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9.emf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9.emf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9.emf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7.svg"/><Relationship Id="rId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9.emf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9.emf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 dirty="0"/>
          </a:p>
        </p:txBody>
      </p:sp>
      <p:sp>
        <p:nvSpPr>
          <p:cNvPr id="10" name="矩形 9"/>
          <p:cNvSpPr/>
          <p:nvPr/>
        </p:nvSpPr>
        <p:spPr>
          <a:xfrm>
            <a:off x="3336984" y="-1379608"/>
            <a:ext cx="1384300" cy="914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949884" y="-1379608"/>
            <a:ext cx="1384300" cy="914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058084" y="-1379608"/>
            <a:ext cx="1384300" cy="914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31" r="69450"/>
          <a:stretch/>
        </p:blipFill>
        <p:spPr>
          <a:xfrm>
            <a:off x="1355" y="1107440"/>
            <a:ext cx="2792646" cy="40360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94" t="28642" r="2208" b="20593"/>
          <a:stretch/>
        </p:blipFill>
        <p:spPr>
          <a:xfrm>
            <a:off x="6024881" y="1473200"/>
            <a:ext cx="2915920" cy="26111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19"/>
          <a:stretch/>
        </p:blipFill>
        <p:spPr>
          <a:xfrm>
            <a:off x="1354" y="2804160"/>
            <a:ext cx="9141291" cy="23393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51" t="29432" r="22659" b="6370"/>
          <a:stretch/>
        </p:blipFill>
        <p:spPr>
          <a:xfrm>
            <a:off x="3703621" y="1574800"/>
            <a:ext cx="3820160" cy="3302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27" t="64592" r="9210" b="5186"/>
          <a:stretch/>
        </p:blipFill>
        <p:spPr>
          <a:xfrm>
            <a:off x="6146801" y="3322320"/>
            <a:ext cx="2153920" cy="15544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86" t="79605" r="5987" b="7951"/>
          <a:stretch/>
        </p:blipFill>
        <p:spPr>
          <a:xfrm>
            <a:off x="7203441" y="4094480"/>
            <a:ext cx="1391920" cy="6400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95" b="62667"/>
          <a:stretch/>
        </p:blipFill>
        <p:spPr>
          <a:xfrm>
            <a:off x="3108960" y="0"/>
            <a:ext cx="6033685" cy="192024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321156" y="1133929"/>
            <a:ext cx="5018904" cy="742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400" spc="225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AI</a:t>
            </a:r>
            <a:r>
              <a:rPr lang="zh-CN" altLang="en-US" sz="2400" spc="225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赋能劳动者权益保障</a:t>
            </a:r>
            <a:endParaRPr lang="en-US" altLang="zh-CN" sz="2400" spc="225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ctr"/>
            <a:r>
              <a:rPr lang="zh-CN" altLang="en-US" sz="2400" spc="225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贯穿劳动维权全流程的智能平台</a:t>
            </a:r>
            <a:endParaRPr lang="en-US" altLang="zh-CN" sz="2400" spc="225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87118" y="2024127"/>
            <a:ext cx="2893059" cy="36132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知法劳动维权平台</a:t>
            </a:r>
            <a:endParaRPr lang="en-US" altLang="zh-CN" sz="12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98913" y="2536386"/>
            <a:ext cx="4110224" cy="48474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Mongolian Baiti" panose="03000500000000000000" pitchFamily="66" charset="0"/>
              </a:rPr>
              <a:t>让每一位劳动者维权，都有可信赖的法律支持。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98913" y="796606"/>
            <a:ext cx="1156244" cy="255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知法</a:t>
            </a:r>
            <a:r>
              <a:rPr lang="en-US" altLang="zh-CN" baseline="30000" dirty="0">
                <a:solidFill>
                  <a:schemeClr val="bg1"/>
                </a:solidFill>
              </a:rPr>
              <a:t>Legal</a:t>
            </a:r>
            <a:endParaRPr lang="en-US" altLang="zh-CN" sz="11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3151" y="1728000"/>
            <a:ext cx="1912500" cy="16875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C6FB50F-E802-9E02-60D6-96E2D39E11CD}"/>
              </a:ext>
            </a:extLst>
          </p:cNvPr>
          <p:cNvSpPr txBox="1"/>
          <p:nvPr/>
        </p:nvSpPr>
        <p:spPr>
          <a:xfrm>
            <a:off x="25213" y="4535009"/>
            <a:ext cx="3677054" cy="36132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赛道：</a:t>
            </a:r>
            <a:r>
              <a:rPr lang="en-US" altLang="zh-CN" sz="12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【D06】</a:t>
            </a:r>
            <a:r>
              <a:rPr lang="zh-CN" altLang="en-US" sz="12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法律</a:t>
            </a:r>
            <a:r>
              <a:rPr lang="en-US" altLang="zh-CN" sz="12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AI</a:t>
            </a:r>
            <a:r>
              <a:rPr lang="zh-CN" altLang="en-US" sz="12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应用创新与实践</a:t>
            </a:r>
            <a:r>
              <a:rPr lang="en-US" altLang="zh-CN" sz="12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【</a:t>
            </a:r>
            <a:r>
              <a:rPr lang="zh-CN" altLang="en-US" sz="12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腾讯开悟</a:t>
            </a:r>
            <a:r>
              <a:rPr lang="en-US" altLang="zh-CN" sz="12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5433031-C83C-3ED5-DB71-FA897B28BC4D}"/>
              </a:ext>
            </a:extLst>
          </p:cNvPr>
          <p:cNvSpPr txBox="1"/>
          <p:nvPr/>
        </p:nvSpPr>
        <p:spPr>
          <a:xfrm>
            <a:off x="26568" y="4815277"/>
            <a:ext cx="3677054" cy="36132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团队编号：</a:t>
            </a:r>
            <a:r>
              <a:rPr lang="en-US" altLang="zh-CN" sz="12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T2609849</a:t>
            </a:r>
          </a:p>
        </p:txBody>
      </p:sp>
    </p:spTree>
    <p:extLst>
      <p:ext uri="{BB962C8B-B14F-4D97-AF65-F5344CB8AC3E}">
        <p14:creationId xmlns:p14="http://schemas.microsoft.com/office/powerpoint/2010/main" val="2335312519"/>
      </p:ext>
    </p:extLst>
  </p:cSld>
  <p:clrMapOvr>
    <a:masterClrMapping/>
  </p:clrMapOvr>
  <p:transition spd="slow" advClick="0" advTm="9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5" presetClass="path" presetSubtype="0" decel="4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073 3.7037E-7 L 0.11424 3.7037E-7 " pathEditMode="relative" rAng="0" ptsTypes="AA">
                                      <p:cBhvr>
                                        <p:cTn id="56" dur="75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40" y="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35" presetClass="path" presetSubtype="0" accel="40000" decel="4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8.33333E-7 3.7037E-7 L -0.03073 3.7037E-7 " pathEditMode="relative" rAng="0" ptsTypes="AA">
                                      <p:cBhvr>
                                        <p:cTn id="58" dur="75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5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5" presetClass="path" presetSubtype="0" decel="4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3073 -2.59259E-6 L -0.11424 -2.59259E-6 " pathEditMode="relative" rAng="0" ptsTypes="AA">
                                      <p:cBhvr>
                                        <p:cTn id="63" dur="75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57" y="0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35" presetClass="path" presetSubtype="0" accel="40000" decel="40000" fill="hold" grpId="2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.03073 -2.59259E-6 L 1.38889E-6 -2.59259E-6 " pathEditMode="relative" rAng="0" ptsTypes="AA">
                                      <p:cBhvr>
                                        <p:cTn id="6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5" y="0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5" presetClass="path" presetSubtype="0" decel="4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3073 -3.7037E-6 L 0.11423 -3.7037E-6 " pathEditMode="relative" rAng="0" ptsTypes="AA">
                                      <p:cBhvr>
                                        <p:cTn id="70" dur="75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40" y="0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35" presetClass="path" presetSubtype="0" accel="40000" decel="40000" fill="hold" grpId="2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1.66667E-6 -3.7037E-6 L -0.03073 -3.7037E-6 " pathEditMode="relative" rAng="0" ptsTypes="AA">
                                      <p:cBhvr>
                                        <p:cTn id="72" dur="75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5" presetClass="path" presetSubtype="0" decel="4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3073 3.33333E-6 L 0.11424 3.33333E-6 " pathEditMode="relative" rAng="0" ptsTypes="AA">
                                      <p:cBhvr>
                                        <p:cTn id="91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40" y="0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35" presetClass="path" presetSubtype="0" accel="40000" decel="40000" fill="hold" grpId="2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5.55556E-7 3.33333E-6 L -0.03073 3.33333E-6 " pathEditMode="relative" rAng="0" ptsTypes="AA">
                                      <p:cBhvr>
                                        <p:cTn id="93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5" y="0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5" presetClass="path" presetSubtype="0" decel="4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3073 3.7037E-6 L 0.11424 3.7037E-6 " pathEditMode="relative" rAng="0" ptsTypes="AA">
                                      <p:cBhvr>
                                        <p:cTn id="98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40" y="0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35" presetClass="path" presetSubtype="0" accel="40000" decel="40000" fill="hold" grpId="2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-3.05556E-6 3.7037E-6 L -0.03073 3.7037E-6 " pathEditMode="relative" rAng="0" ptsTypes="AA">
                                      <p:cBhvr>
                                        <p:cTn id="100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  <p:bldP spid="20" grpId="2"/>
      <p:bldP spid="21" grpId="0"/>
      <p:bldP spid="21" grpId="1"/>
      <p:bldP spid="21" grpId="2"/>
      <p:bldP spid="22" grpId="0"/>
      <p:bldP spid="23" grpId="0"/>
      <p:bldP spid="23" grpId="1"/>
      <p:bldP spid="23" grpId="2"/>
      <p:bldP spid="14" grpId="0"/>
      <p:bldP spid="14" grpId="1"/>
      <p:bldP spid="14" grpId="2"/>
      <p:bldP spid="16" grpId="0"/>
      <p:bldP spid="16" grpId="1"/>
      <p:bldP spid="16" grpId="2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98561" y="1673486"/>
            <a:ext cx="491898" cy="530845"/>
          </a:xfrm>
          <a:prstGeom prst="rect">
            <a:avLst/>
          </a:prstGeom>
          <a:noFill/>
        </p:spPr>
        <p:txBody>
          <a:bodyPr wrap="none" anchor="ctr">
            <a:normAutofit fontScale="90000" lnSpcReduction="20000"/>
          </a:bodyPr>
          <a:lstStyle/>
          <a:p>
            <a:r>
              <a:rPr lang="en-US" altLang="zh-CN" sz="4001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01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749554" y="1673486"/>
            <a:ext cx="1883687" cy="265423"/>
          </a:xfrm>
          <a:prstGeom prst="rect">
            <a:avLst/>
          </a:prstGeom>
          <a:noFill/>
        </p:spPr>
        <p:txBody>
          <a:bodyPr wrap="none" lIns="359954" tIns="0" rIns="0" bIns="0" anchor="b" anchorCtr="0"/>
          <a:lstStyle/>
          <a:p>
            <a:r>
              <a:rPr lang="zh-CN" altLang="en-US" sz="22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基础信息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749557" y="1938757"/>
            <a:ext cx="2058829" cy="390049"/>
          </a:xfrm>
          <a:prstGeom prst="rect">
            <a:avLst/>
          </a:prstGeom>
        </p:spPr>
        <p:txBody>
          <a:bodyPr vert="horz" wrap="square" lIns="359954" tIns="0" rIns="0" bIns="0" anchor="ctr" anchorCtr="0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zh-CN" altLang="en-US" sz="105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此部分内容作为文字排版占位显示 </a:t>
            </a:r>
            <a:br>
              <a:rPr lang="zh-CN" altLang="en-US" sz="105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</a:br>
            <a:r>
              <a:rPr lang="zh-CN" altLang="en-US" sz="105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（建议使用主题字体）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398561" y="3009843"/>
            <a:ext cx="538779" cy="530845"/>
          </a:xfrm>
          <a:prstGeom prst="rect">
            <a:avLst/>
          </a:prstGeom>
          <a:noFill/>
        </p:spPr>
        <p:txBody>
          <a:bodyPr wrap="none" anchor="ctr">
            <a:normAutofit fontScale="90000" lnSpcReduction="20000"/>
          </a:bodyPr>
          <a:lstStyle/>
          <a:p>
            <a:r>
              <a:rPr lang="en-US" altLang="zh-CN" sz="4001" dirty="0">
                <a:solidFill>
                  <a:schemeClr val="accent3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02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49554" y="3009843"/>
            <a:ext cx="1883687" cy="265423"/>
          </a:xfrm>
          <a:prstGeom prst="rect">
            <a:avLst/>
          </a:prstGeom>
          <a:noFill/>
        </p:spPr>
        <p:txBody>
          <a:bodyPr wrap="none" lIns="359954" tIns="0" rIns="0" bIns="0" anchor="b" anchorCtr="0"/>
          <a:lstStyle/>
          <a:p>
            <a:r>
              <a:rPr lang="zh-CN" altLang="en-US" sz="2200" dirty="0">
                <a:solidFill>
                  <a:schemeClr val="accent3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需求分析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749557" y="3275114"/>
            <a:ext cx="2059305" cy="390049"/>
          </a:xfrm>
          <a:prstGeom prst="rect">
            <a:avLst/>
          </a:prstGeom>
        </p:spPr>
        <p:txBody>
          <a:bodyPr vert="horz" wrap="square" lIns="359954" tIns="0" rIns="0" bIns="0" anchor="ctr" anchorCtr="0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zh-CN" altLang="en-US" sz="105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此部分内容作为文字排版占位显示</a:t>
            </a:r>
            <a:br>
              <a:rPr lang="zh-CN" altLang="en-US" sz="105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</a:br>
            <a:r>
              <a:rPr lang="zh-CN" altLang="en-US" sz="105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 （建议使用主题字体）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158397" y="1002512"/>
            <a:ext cx="549598" cy="530845"/>
          </a:xfrm>
          <a:prstGeom prst="rect">
            <a:avLst/>
          </a:prstGeom>
          <a:noFill/>
        </p:spPr>
        <p:txBody>
          <a:bodyPr wrap="none" anchor="ctr">
            <a:normAutofit fontScale="90000" lnSpcReduction="20000"/>
          </a:bodyPr>
          <a:lstStyle/>
          <a:p>
            <a:r>
              <a:rPr lang="en-US" altLang="zh-CN" sz="4001" dirty="0">
                <a:solidFill>
                  <a:schemeClr val="accent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03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509390" y="1002512"/>
            <a:ext cx="1889964" cy="265423"/>
          </a:xfrm>
          <a:prstGeom prst="rect">
            <a:avLst/>
          </a:prstGeom>
          <a:noFill/>
        </p:spPr>
        <p:txBody>
          <a:bodyPr wrap="none" lIns="359954" tIns="0" rIns="0" bIns="0" anchor="b" anchorCtr="0"/>
          <a:lstStyle/>
          <a:p>
            <a:r>
              <a:rPr lang="zh-CN" altLang="en-US" sz="2200" dirty="0">
                <a:solidFill>
                  <a:schemeClr val="accent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解决方案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509393" y="1267783"/>
            <a:ext cx="2035017" cy="390049"/>
          </a:xfrm>
          <a:prstGeom prst="rect">
            <a:avLst/>
          </a:prstGeom>
        </p:spPr>
        <p:txBody>
          <a:bodyPr vert="horz" wrap="square" lIns="359954" tIns="0" rIns="0" bIns="0" anchor="ctr" anchorCtr="0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zh-CN" altLang="en-US" sz="105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此部分内容作为文字排版占位显示 </a:t>
            </a:r>
            <a:br>
              <a:rPr lang="zh-CN" altLang="en-US" sz="105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</a:br>
            <a:r>
              <a:rPr lang="zh-CN" altLang="en-US" sz="105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（建议使用主题字体）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158397" y="2356014"/>
            <a:ext cx="537577" cy="530845"/>
          </a:xfrm>
          <a:prstGeom prst="rect">
            <a:avLst/>
          </a:prstGeom>
          <a:noFill/>
        </p:spPr>
        <p:txBody>
          <a:bodyPr wrap="none" anchor="ctr">
            <a:normAutofit fontScale="90000" lnSpcReduction="20000"/>
          </a:bodyPr>
          <a:lstStyle/>
          <a:p>
            <a:r>
              <a:rPr lang="en-US" altLang="zh-CN" sz="4001" dirty="0">
                <a:solidFill>
                  <a:schemeClr val="accent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04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509390" y="2356014"/>
            <a:ext cx="1889964" cy="265423"/>
          </a:xfrm>
          <a:prstGeom prst="rect">
            <a:avLst/>
          </a:prstGeom>
          <a:noFill/>
        </p:spPr>
        <p:txBody>
          <a:bodyPr wrap="none" lIns="359954" tIns="0" rIns="0" bIns="0" anchor="b" anchorCtr="0"/>
          <a:lstStyle/>
          <a:p>
            <a:r>
              <a:rPr lang="zh-CN" altLang="en-US" sz="2200" dirty="0">
                <a:solidFill>
                  <a:schemeClr val="accent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关键功能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509393" y="2621285"/>
            <a:ext cx="1958340" cy="390049"/>
          </a:xfrm>
          <a:prstGeom prst="rect">
            <a:avLst/>
          </a:prstGeom>
        </p:spPr>
        <p:txBody>
          <a:bodyPr vert="horz" wrap="square" lIns="359954" tIns="0" rIns="0" bIns="0" anchor="ctr" anchorCtr="0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zh-CN" altLang="en-US" sz="105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此部分内容作为文字排版占位显示 </a:t>
            </a:r>
            <a:br>
              <a:rPr lang="zh-CN" altLang="en-US" sz="105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</a:br>
            <a:r>
              <a:rPr lang="zh-CN" altLang="en-US" sz="105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（建议使用主题字体）</a:t>
            </a:r>
          </a:p>
        </p:txBody>
      </p:sp>
      <p:sp>
        <p:nvSpPr>
          <p:cNvPr id="14" name="矩形 13"/>
          <p:cNvSpPr/>
          <p:nvPr/>
        </p:nvSpPr>
        <p:spPr>
          <a:xfrm>
            <a:off x="7069567" y="1780165"/>
            <a:ext cx="1350169" cy="190738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altLang="en-US" sz="5000" spc="3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目</a:t>
            </a:r>
            <a:endParaRPr lang="en-US" altLang="zh-CN" sz="5000" spc="300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5000" spc="3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录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B8D438-7EF2-FE67-76FD-D5677151DF54}"/>
              </a:ext>
            </a:extLst>
          </p:cNvPr>
          <p:cNvSpPr txBox="1"/>
          <p:nvPr/>
        </p:nvSpPr>
        <p:spPr>
          <a:xfrm>
            <a:off x="4158397" y="3584890"/>
            <a:ext cx="537577" cy="530845"/>
          </a:xfrm>
          <a:prstGeom prst="rect">
            <a:avLst/>
          </a:prstGeom>
          <a:noFill/>
        </p:spPr>
        <p:txBody>
          <a:bodyPr wrap="none" anchor="ctr">
            <a:normAutofit fontScale="90000" lnSpcReduction="20000"/>
          </a:bodyPr>
          <a:lstStyle/>
          <a:p>
            <a:r>
              <a:rPr lang="en-US" altLang="zh-CN" sz="4001" dirty="0">
                <a:solidFill>
                  <a:schemeClr val="accent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05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9880EFC-19C1-FDF6-3956-6FC7C9625CC4}"/>
              </a:ext>
            </a:extLst>
          </p:cNvPr>
          <p:cNvSpPr txBox="1"/>
          <p:nvPr/>
        </p:nvSpPr>
        <p:spPr>
          <a:xfrm>
            <a:off x="4509390" y="3584890"/>
            <a:ext cx="1889964" cy="265423"/>
          </a:xfrm>
          <a:prstGeom prst="rect">
            <a:avLst/>
          </a:prstGeom>
          <a:noFill/>
        </p:spPr>
        <p:txBody>
          <a:bodyPr wrap="none" lIns="359954" tIns="0" rIns="0" bIns="0" anchor="b" anchorCtr="0"/>
          <a:lstStyle/>
          <a:p>
            <a:r>
              <a:rPr lang="zh-CN" altLang="en-US" sz="2200" dirty="0">
                <a:solidFill>
                  <a:schemeClr val="accent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使用场景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0669934-04D8-948D-F589-9FD5524827C4}"/>
              </a:ext>
            </a:extLst>
          </p:cNvPr>
          <p:cNvSpPr txBox="1"/>
          <p:nvPr/>
        </p:nvSpPr>
        <p:spPr>
          <a:xfrm>
            <a:off x="4509393" y="3850161"/>
            <a:ext cx="1958340" cy="390049"/>
          </a:xfrm>
          <a:prstGeom prst="rect">
            <a:avLst/>
          </a:prstGeom>
        </p:spPr>
        <p:txBody>
          <a:bodyPr vert="horz" wrap="square" lIns="359954" tIns="0" rIns="0" bIns="0" anchor="ctr" anchorCtr="0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zh-CN" altLang="en-US" sz="105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此部分内容作为文字排版占位显示 </a:t>
            </a:r>
            <a:br>
              <a:rPr lang="zh-CN" altLang="en-US" sz="105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</a:br>
            <a:r>
              <a:rPr lang="zh-CN" altLang="en-US" sz="105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（建议使用主题字体）</a:t>
            </a:r>
          </a:p>
        </p:txBody>
      </p:sp>
    </p:spTree>
    <p:extLst>
      <p:ext uri="{BB962C8B-B14F-4D97-AF65-F5344CB8AC3E}">
        <p14:creationId xmlns:p14="http://schemas.microsoft.com/office/powerpoint/2010/main" val="1309769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7000">
        <p:fade/>
      </p:transition>
    </mc:Choice>
    <mc:Fallback xmlns="">
      <p:transition spd="med" advClick="0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31" r="69450"/>
          <a:stretch/>
        </p:blipFill>
        <p:spPr>
          <a:xfrm>
            <a:off x="1355" y="1107440"/>
            <a:ext cx="2792646" cy="40360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94" t="28642" r="2208" b="20593"/>
          <a:stretch/>
        </p:blipFill>
        <p:spPr>
          <a:xfrm>
            <a:off x="6024881" y="1473200"/>
            <a:ext cx="2915920" cy="26111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19"/>
          <a:stretch/>
        </p:blipFill>
        <p:spPr>
          <a:xfrm>
            <a:off x="1354" y="3117252"/>
            <a:ext cx="9141291" cy="23393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27" t="64592" r="9210" b="5186"/>
          <a:stretch/>
        </p:blipFill>
        <p:spPr>
          <a:xfrm>
            <a:off x="6146801" y="3635412"/>
            <a:ext cx="2153920" cy="15544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86" t="79605" r="5987" b="7951"/>
          <a:stretch/>
        </p:blipFill>
        <p:spPr>
          <a:xfrm>
            <a:off x="7203441" y="4407572"/>
            <a:ext cx="1391920" cy="640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95" b="62667"/>
          <a:stretch/>
        </p:blipFill>
        <p:spPr>
          <a:xfrm>
            <a:off x="3299462" y="-228208"/>
            <a:ext cx="6033685" cy="192024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-18124" y="1065856"/>
            <a:ext cx="4764749" cy="742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5500" spc="225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项目概述</a:t>
            </a:r>
            <a:endParaRPr lang="en-US" altLang="zh-CN" sz="5500" spc="225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4496" y="2625028"/>
            <a:ext cx="1912500" cy="16875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CA3372F-9903-519D-800E-60F19FFA83AB}"/>
              </a:ext>
            </a:extLst>
          </p:cNvPr>
          <p:cNvSpPr txBox="1"/>
          <p:nvPr/>
        </p:nvSpPr>
        <p:spPr>
          <a:xfrm>
            <a:off x="398913" y="796606"/>
            <a:ext cx="1156244" cy="255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知法</a:t>
            </a:r>
            <a:r>
              <a:rPr lang="en-US" altLang="zh-CN" baseline="30000" dirty="0">
                <a:solidFill>
                  <a:schemeClr val="bg1"/>
                </a:solidFill>
              </a:rPr>
              <a:t>Legal</a:t>
            </a:r>
            <a:endParaRPr lang="en-US" altLang="zh-CN" sz="11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2189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7000">
        <p:fade/>
      </p:transition>
    </mc:Choice>
    <mc:Fallback xmlns:a14="http://schemas.microsoft.com/office/drawing/2010/main" xmlns="">
      <p:transition spd="med" advClick="0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5" presetClass="path" presetSubtype="0" decel="4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3073 6.17284E-7 L -0.11424 6.17284E-7 " pathEditMode="relative" rAng="0" ptsTypes="AA">
                                      <p:cBhvr>
                                        <p:cTn id="49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57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accel="40000" decel="40000" fill="hold" grpId="2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.03073 6.17284E-7 L 2.22222E-6 6.17284E-7 " pathEditMode="relative" rAng="0" ptsTypes="AA">
                                      <p:cBhvr>
                                        <p:cTn id="5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5" presetClass="path" presetSubtype="0" decel="4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073 3.7037E-7 L 0.11424 3.7037E-7 " pathEditMode="relative" rAng="0" ptsTypes="AA">
                                      <p:cBhvr>
                                        <p:cTn id="63" dur="75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40" y="0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35" presetClass="path" presetSubtype="0" accel="40000" decel="4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8.33333E-7 3.7037E-7 L -0.03073 3.7037E-7 " pathEditMode="relative" rAng="0" ptsTypes="AA">
                                      <p:cBhvr>
                                        <p:cTn id="65" dur="75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1" grpId="2"/>
      <p:bldP spid="7" grpId="0"/>
      <p:bldP spid="7" grpId="1"/>
      <p:bldP spid="7" grpId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2284072" y="2265285"/>
            <a:ext cx="1905000" cy="1905000"/>
          </a:xfrm>
          <a:prstGeom prst="ellipse">
            <a:avLst/>
          </a:prstGeom>
          <a:gradFill>
            <a:gsLst>
              <a:gs pos="100000">
                <a:srgbClr val="FFFFFF"/>
              </a:gs>
              <a:gs pos="0">
                <a:srgbClr val="D9D9D9"/>
              </a:gs>
            </a:gsLst>
            <a:lin ang="2700000" scaled="1"/>
          </a:gra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>
              <a:solidFill>
                <a:schemeClr val="lt1"/>
              </a:solidFill>
            </a:endParaRPr>
          </a:p>
        </p:txBody>
      </p:sp>
      <p:sp>
        <p:nvSpPr>
          <p:cNvPr id="3" name="椭圆 2"/>
          <p:cNvSpPr/>
          <p:nvPr/>
        </p:nvSpPr>
        <p:spPr>
          <a:xfrm>
            <a:off x="702922" y="2265285"/>
            <a:ext cx="1905000" cy="1905000"/>
          </a:xfrm>
          <a:prstGeom prst="ellipse">
            <a:avLst/>
          </a:prstGeom>
          <a:solidFill>
            <a:schemeClr val="accent2"/>
          </a:soli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" name="椭圆 3"/>
          <p:cNvSpPr/>
          <p:nvPr/>
        </p:nvSpPr>
        <p:spPr>
          <a:xfrm>
            <a:off x="1493497" y="991756"/>
            <a:ext cx="1905000" cy="1905000"/>
          </a:xfrm>
          <a:prstGeom prst="ellipse">
            <a:avLst/>
          </a:prstGeom>
          <a:gradFill>
            <a:gsLst>
              <a:gs pos="100000">
                <a:srgbClr val="FFFFFF"/>
              </a:gs>
              <a:gs pos="0">
                <a:srgbClr val="D9D9D9"/>
              </a:gs>
            </a:gsLst>
            <a:lin ang="2700000" scaled="1"/>
          </a:gra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>
              <a:solidFill>
                <a:schemeClr val="lt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12713" y="1582854"/>
            <a:ext cx="2266567" cy="622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c="http://schemas.openxmlformats.org/markup-compatibility/2006" xmlns:p14="http://schemas.microsoft.com/office/powerpoint/2010/main" xmlns="" val="1"/>
            </a:ext>
          </a:extLst>
        </p:spPr>
        <p:txBody>
          <a:bodyPr wrap="square" lIns="17145" rIns="17145">
            <a:spAutoFit/>
          </a:bodyPr>
          <a:lstStyle/>
          <a:p>
            <a:pPr algn="ctr">
              <a:lnSpc>
                <a:spcPct val="120000"/>
              </a:lnSpc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15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产品名称</a:t>
            </a:r>
            <a:endParaRPr lang="en-US" altLang="zh-CN" sz="15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15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知法：劳动维权平台</a:t>
            </a:r>
            <a:endParaRPr sz="15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90166" y="2755602"/>
            <a:ext cx="1905000" cy="1176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c="http://schemas.openxmlformats.org/markup-compatibility/2006" xmlns:p14="http://schemas.microsoft.com/office/powerpoint/2010/main" xmlns="" val="1"/>
            </a:ext>
          </a:extLst>
        </p:spPr>
        <p:txBody>
          <a:bodyPr lIns="17145" rIns="17145">
            <a:spAutoFit/>
          </a:bodyPr>
          <a:lstStyle/>
          <a:p>
            <a:pPr>
              <a:lnSpc>
                <a:spcPct val="120000"/>
              </a:lnSpc>
              <a:defRPr sz="30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rPr lang="zh-CN" altLang="en-US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用户：</a:t>
            </a:r>
            <a:endParaRPr lang="en-US" altLang="zh-CN" sz="1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 sz="30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rPr lang="zh-CN" altLang="en-US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面临劳动争议</a:t>
            </a:r>
            <a:endParaRPr lang="en-US" altLang="zh-CN" sz="1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 sz="30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rPr lang="zh-CN" altLang="en-US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需要维权的</a:t>
            </a:r>
            <a:endParaRPr lang="en-US" altLang="zh-CN" sz="1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 sz="30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rPr lang="zh-CN" altLang="en-US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劳动者</a:t>
            </a:r>
            <a:endParaRPr sz="1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760322" y="2956324"/>
            <a:ext cx="1905000" cy="622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c="http://schemas.openxmlformats.org/markup-compatibility/2006" xmlns:p14="http://schemas.microsoft.com/office/powerpoint/2010/main" xmlns="" val="1"/>
            </a:ext>
          </a:extLst>
        </p:spPr>
        <p:txBody>
          <a:bodyPr lIns="17145" rIns="17145">
            <a:spAutoFit/>
          </a:bodyPr>
          <a:lstStyle/>
          <a:p>
            <a:pPr>
              <a:lnSpc>
                <a:spcPct val="120000"/>
              </a:lnSpc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15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访问链接：</a:t>
            </a:r>
            <a:endParaRPr lang="en-US" sz="150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1500" dirty="0" err="1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knowlaw.top</a:t>
            </a:r>
            <a:endParaRPr sz="150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581094" y="1440718"/>
            <a:ext cx="1620957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</a:rPr>
              <a:t>项目定位</a:t>
            </a:r>
            <a:endParaRPr 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ontserrat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269869" y="1969027"/>
            <a:ext cx="2324675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750" b="1" spc="450" dirty="0">
                <a:solidFill>
                  <a:schemeClr val="tx2">
                    <a:alpha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</a:rPr>
              <a:t>PROJECT POSITIONNG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744253" y="2171728"/>
            <a:ext cx="3817511" cy="166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2">
                    <a:alpha val="60000"/>
                  </a:schemeClr>
                </a:solidFill>
                <a:latin typeface="Montserrat Light" charset="0"/>
                <a:ea typeface="Montserrat Light" charset="0"/>
                <a:cs typeface="Montserrat Light" charset="0"/>
              </a:rPr>
              <a:t>知法平台面向普通劳动者，提供劳动维权全流程一站式服务，覆盖维权指引、法律咨询、法规与类案检索、合同审查、证据管理、法律文书生成及审查，是无法律基础用户也能便捷使用的标准化劳动维权工具。</a:t>
            </a:r>
            <a:endParaRPr lang="en-US" dirty="0">
              <a:solidFill>
                <a:schemeClr val="tx2">
                  <a:alpha val="60000"/>
                </a:schemeClr>
              </a:solidFill>
              <a:latin typeface="Montserrat Light" charset="0"/>
              <a:ea typeface="Montserrat Light" charset="0"/>
              <a:cs typeface="Montserrat Light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633282" y="246167"/>
            <a:ext cx="1877437" cy="5493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3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</a:rPr>
              <a:t>项目简介</a:t>
            </a:r>
            <a:endParaRPr 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ontserrat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737477" y="795548"/>
            <a:ext cx="1669047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750" b="1" spc="450" dirty="0">
                <a:solidFill>
                  <a:schemeClr val="tx2">
                    <a:alpha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</a:rPr>
              <a:t>PROJECT BRIEF</a:t>
            </a:r>
          </a:p>
        </p:txBody>
      </p:sp>
    </p:spTree>
    <p:extLst>
      <p:ext uri="{BB962C8B-B14F-4D97-AF65-F5344CB8AC3E}">
        <p14:creationId xmlns:p14="http://schemas.microsoft.com/office/powerpoint/2010/main" val="3279000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6000">
        <p:fade/>
      </p:transition>
    </mc:Choice>
    <mc:Fallback xmlns:ma14="http://schemas.microsoft.com/office/mac/drawingml/2011/main" xmlns="">
      <p:transition spd="med" advClick="0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94B19-89AA-C6C2-738C-C536AE93B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0375EF7-2FBC-09CF-9FAF-A4C435FD5773}"/>
              </a:ext>
            </a:extLst>
          </p:cNvPr>
          <p:cNvSpPr txBox="1"/>
          <p:nvPr/>
        </p:nvSpPr>
        <p:spPr>
          <a:xfrm>
            <a:off x="833473" y="1185283"/>
            <a:ext cx="1464498" cy="450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38" tIns="17138" rIns="17138" bIns="17138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19227C"/>
              </a:buClr>
              <a:buSzPts val="7200"/>
            </a:pPr>
            <a:r>
              <a:rPr lang="zh-CN" altLang="en-US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  <a:sym typeface="Poppins"/>
              </a:rPr>
              <a:t>项目愿景</a:t>
            </a:r>
            <a:endParaRPr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ontserrat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5C144A-B083-509F-94E5-80D25937F8EB}"/>
              </a:ext>
            </a:extLst>
          </p:cNvPr>
          <p:cNvSpPr txBox="1"/>
          <p:nvPr/>
        </p:nvSpPr>
        <p:spPr>
          <a:xfrm>
            <a:off x="2555240" y="1085850"/>
            <a:ext cx="5645953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38" tIns="17138" rIns="17138" bIns="17138" anchor="t" anchorCtr="0">
            <a:noAutofit/>
          </a:bodyPr>
          <a:lstStyle/>
          <a:p>
            <a:pPr>
              <a:lnSpc>
                <a:spcPct val="133333"/>
              </a:lnSpc>
              <a:defRPr/>
            </a:pPr>
            <a:r>
              <a:rPr lang="en-US" altLang="zh-CN" sz="11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以AI技术重构法律服务流程，将复杂的专业判断转化为轻量化的交互功能。显著降低劳动者的维权门槛与时间成本，提升维权效率，最终实现法律知识的普惠化传播，增强全社会的法治意识与维权能力</a:t>
            </a:r>
            <a:r>
              <a:rPr lang="zh-CN" altLang="en-US" sz="11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，促进法治国家、法治社会建设。</a:t>
            </a:r>
            <a:endParaRPr lang="en-US" altLang="zh-CN" sz="105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14802B2-D753-BB8D-A7CF-3ED98A3FEBFB}"/>
              </a:ext>
            </a:extLst>
          </p:cNvPr>
          <p:cNvSpPr txBox="1"/>
          <p:nvPr/>
        </p:nvSpPr>
        <p:spPr>
          <a:xfrm>
            <a:off x="3633282" y="229256"/>
            <a:ext cx="1877437" cy="5493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3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</a:rPr>
              <a:t>主要目标</a:t>
            </a:r>
            <a:endParaRPr 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ontserrat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030651-05FF-E4B0-B2B5-022C9D1EA697}"/>
              </a:ext>
            </a:extLst>
          </p:cNvPr>
          <p:cNvSpPr txBox="1"/>
          <p:nvPr/>
        </p:nvSpPr>
        <p:spPr>
          <a:xfrm>
            <a:off x="3810413" y="750704"/>
            <a:ext cx="1523174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750" b="1" spc="450" dirty="0">
                <a:solidFill>
                  <a:schemeClr val="tx2">
                    <a:alpha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</a:rPr>
              <a:t>MAIN TARGET</a:t>
            </a:r>
          </a:p>
        </p:txBody>
      </p:sp>
      <p:sp>
        <p:nvSpPr>
          <p:cNvPr id="22" name="AutoShape 51"/>
          <p:cNvSpPr/>
          <p:nvPr/>
        </p:nvSpPr>
        <p:spPr>
          <a:xfrm>
            <a:off x="1108522" y="1908810"/>
            <a:ext cx="3302000" cy="8636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52"/>
          <p:cNvSpPr/>
          <p:nvPr/>
        </p:nvSpPr>
        <p:spPr>
          <a:xfrm>
            <a:off x="1108522" y="1946910"/>
            <a:ext cx="76200" cy="822960"/>
          </a:xfrm>
          <a:prstGeom prst="roundRect">
            <a:avLst>
              <a:gd name="adj" fmla="val 133333"/>
            </a:avLst>
          </a:prstGeom>
          <a:solidFill>
            <a:srgbClr val="0070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53"/>
          <p:cNvSpPr/>
          <p:nvPr/>
        </p:nvSpPr>
        <p:spPr>
          <a:xfrm>
            <a:off x="1380302" y="2071369"/>
            <a:ext cx="609600" cy="609600"/>
          </a:xfrm>
          <a:prstGeom prst="ellipse">
            <a:avLst/>
          </a:prstGeom>
          <a:solidFill>
            <a:srgbClr val="00704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2702" y="2223769"/>
            <a:ext cx="304800" cy="304800"/>
          </a:xfrm>
          <a:prstGeom prst="rect">
            <a:avLst/>
          </a:prstGeom>
        </p:spPr>
      </p:pic>
      <p:sp>
        <p:nvSpPr>
          <p:cNvPr id="55" name="AutoShape 55"/>
          <p:cNvSpPr/>
          <p:nvPr/>
        </p:nvSpPr>
        <p:spPr>
          <a:xfrm>
            <a:off x="2270572" y="2007774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推动法律知识普惠</a:t>
            </a:r>
            <a:endParaRPr lang="en-US" sz="1100" dirty="0"/>
          </a:p>
        </p:txBody>
      </p:sp>
      <p:sp>
        <p:nvSpPr>
          <p:cNvPr id="56" name="AutoShape 56"/>
          <p:cNvSpPr/>
          <p:nvPr/>
        </p:nvSpPr>
        <p:spPr>
          <a:xfrm>
            <a:off x="2270572" y="2267490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在维权实践中潜移默化，向用户普及实用法律知识</a:t>
            </a:r>
            <a:r>
              <a:rPr lang="en-US" sz="1100" b="0" i="0" u="none" strike="noStrike" dirty="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7" name="AutoShape 45">
            <a:extLst>
              <a:ext uri="{FF2B5EF4-FFF2-40B4-BE49-F238E27FC236}">
                <a16:creationId xmlns:a16="http://schemas.microsoft.com/office/drawing/2014/main" id="{C545EA74-6D6E-B48E-CFA0-B9860B4F4F38}"/>
              </a:ext>
            </a:extLst>
          </p:cNvPr>
          <p:cNvSpPr/>
          <p:nvPr/>
        </p:nvSpPr>
        <p:spPr>
          <a:xfrm>
            <a:off x="1108522" y="3966940"/>
            <a:ext cx="3302000" cy="82296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46">
            <a:extLst>
              <a:ext uri="{FF2B5EF4-FFF2-40B4-BE49-F238E27FC236}">
                <a16:creationId xmlns:a16="http://schemas.microsoft.com/office/drawing/2014/main" id="{44AF44E1-757B-70CD-F6BD-F0491B3DB36D}"/>
              </a:ext>
            </a:extLst>
          </p:cNvPr>
          <p:cNvSpPr/>
          <p:nvPr/>
        </p:nvSpPr>
        <p:spPr>
          <a:xfrm>
            <a:off x="1108522" y="3966940"/>
            <a:ext cx="76200" cy="822960"/>
          </a:xfrm>
          <a:prstGeom prst="roundRect">
            <a:avLst>
              <a:gd name="adj" fmla="val 133333"/>
            </a:avLst>
          </a:prstGeom>
          <a:solidFill>
            <a:srgbClr val="0070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47">
            <a:extLst>
              <a:ext uri="{FF2B5EF4-FFF2-40B4-BE49-F238E27FC236}">
                <a16:creationId xmlns:a16="http://schemas.microsoft.com/office/drawing/2014/main" id="{C039E9C8-4B85-6D2E-2347-319628A101DB}"/>
              </a:ext>
            </a:extLst>
          </p:cNvPr>
          <p:cNvSpPr/>
          <p:nvPr/>
        </p:nvSpPr>
        <p:spPr>
          <a:xfrm>
            <a:off x="1413322" y="4091399"/>
            <a:ext cx="609600" cy="609600"/>
          </a:xfrm>
          <a:prstGeom prst="ellipse">
            <a:avLst/>
          </a:prstGeom>
          <a:solidFill>
            <a:srgbClr val="00704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7" name="Picture 48">
            <a:extLst>
              <a:ext uri="{FF2B5EF4-FFF2-40B4-BE49-F238E27FC236}">
                <a16:creationId xmlns:a16="http://schemas.microsoft.com/office/drawing/2014/main" id="{6667EED1-EF6A-26B5-FCDE-6BD8CC220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5722" y="4243799"/>
            <a:ext cx="304800" cy="304800"/>
          </a:xfrm>
          <a:prstGeom prst="rect">
            <a:avLst/>
          </a:prstGeom>
        </p:spPr>
      </p:pic>
      <p:sp>
        <p:nvSpPr>
          <p:cNvPr id="58" name="AutoShape 49">
            <a:extLst>
              <a:ext uri="{FF2B5EF4-FFF2-40B4-BE49-F238E27FC236}">
                <a16:creationId xmlns:a16="http://schemas.microsoft.com/office/drawing/2014/main" id="{0CA154BD-748C-883F-6D0B-D505A207E182}"/>
              </a:ext>
            </a:extLst>
          </p:cNvPr>
          <p:cNvSpPr/>
          <p:nvPr/>
        </p:nvSpPr>
        <p:spPr>
          <a:xfrm>
            <a:off x="2250029" y="4027804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提升维权准备效率</a:t>
            </a:r>
            <a:endParaRPr lang="en-US" sz="1100" dirty="0"/>
          </a:p>
        </p:txBody>
      </p:sp>
      <p:sp>
        <p:nvSpPr>
          <p:cNvPr id="59" name="AutoShape 50">
            <a:extLst>
              <a:ext uri="{FF2B5EF4-FFF2-40B4-BE49-F238E27FC236}">
                <a16:creationId xmlns:a16="http://schemas.microsoft.com/office/drawing/2014/main" id="{8913FFE8-E3BC-12D7-BA6C-E82FC3BC2D99}"/>
              </a:ext>
            </a:extLst>
          </p:cNvPr>
          <p:cNvSpPr/>
          <p:nvPr/>
        </p:nvSpPr>
        <p:spPr>
          <a:xfrm>
            <a:off x="2250029" y="422402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引入自动化处理工具，大幅缩短繁琐的前期准备时间</a:t>
            </a:r>
            <a:r>
              <a:rPr lang="en-US" sz="1100" b="0" i="0" u="none" strike="noStrike" dirty="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60" name="AutoShape 9">
            <a:extLst>
              <a:ext uri="{FF2B5EF4-FFF2-40B4-BE49-F238E27FC236}">
                <a16:creationId xmlns:a16="http://schemas.microsoft.com/office/drawing/2014/main" id="{793F390F-ACCC-825A-8876-4D21ED546007}"/>
              </a:ext>
            </a:extLst>
          </p:cNvPr>
          <p:cNvSpPr/>
          <p:nvPr/>
        </p:nvSpPr>
        <p:spPr>
          <a:xfrm>
            <a:off x="1108522" y="2940685"/>
            <a:ext cx="3302000" cy="82296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AutoShape 10">
            <a:extLst>
              <a:ext uri="{FF2B5EF4-FFF2-40B4-BE49-F238E27FC236}">
                <a16:creationId xmlns:a16="http://schemas.microsoft.com/office/drawing/2014/main" id="{CAC18945-9199-D7E8-5412-FC394D934980}"/>
              </a:ext>
            </a:extLst>
          </p:cNvPr>
          <p:cNvSpPr/>
          <p:nvPr/>
        </p:nvSpPr>
        <p:spPr>
          <a:xfrm>
            <a:off x="1108522" y="2940685"/>
            <a:ext cx="76200" cy="822960"/>
          </a:xfrm>
          <a:prstGeom prst="roundRect">
            <a:avLst>
              <a:gd name="adj" fmla="val 133333"/>
            </a:avLst>
          </a:prstGeom>
          <a:solidFill>
            <a:srgbClr val="0070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AutoShape 11">
            <a:extLst>
              <a:ext uri="{FF2B5EF4-FFF2-40B4-BE49-F238E27FC236}">
                <a16:creationId xmlns:a16="http://schemas.microsoft.com/office/drawing/2014/main" id="{875A6F86-D282-CDFD-486F-7DBEB7DE7CD9}"/>
              </a:ext>
            </a:extLst>
          </p:cNvPr>
          <p:cNvSpPr/>
          <p:nvPr/>
        </p:nvSpPr>
        <p:spPr>
          <a:xfrm>
            <a:off x="1413322" y="3065144"/>
            <a:ext cx="609600" cy="609600"/>
          </a:xfrm>
          <a:prstGeom prst="ellipse">
            <a:avLst/>
          </a:prstGeom>
          <a:solidFill>
            <a:srgbClr val="00704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3" name="Picture 12">
            <a:extLst>
              <a:ext uri="{FF2B5EF4-FFF2-40B4-BE49-F238E27FC236}">
                <a16:creationId xmlns:a16="http://schemas.microsoft.com/office/drawing/2014/main" id="{452E1D39-F589-3E5E-6888-CCF6FDD6F8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5722" y="3217544"/>
            <a:ext cx="304800" cy="304800"/>
          </a:xfrm>
          <a:prstGeom prst="rect">
            <a:avLst/>
          </a:prstGeom>
        </p:spPr>
      </p:pic>
      <p:sp>
        <p:nvSpPr>
          <p:cNvPr id="64" name="AutoShape 13">
            <a:extLst>
              <a:ext uri="{FF2B5EF4-FFF2-40B4-BE49-F238E27FC236}">
                <a16:creationId xmlns:a16="http://schemas.microsoft.com/office/drawing/2014/main" id="{F081E40C-D4DA-92E1-5589-C34F7FBECAFA}"/>
              </a:ext>
            </a:extLst>
          </p:cNvPr>
          <p:cNvSpPr/>
          <p:nvPr/>
        </p:nvSpPr>
        <p:spPr>
          <a:xfrm>
            <a:off x="2251522" y="3001549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降低维权操作门槛</a:t>
            </a:r>
            <a:endParaRPr lang="en-US" sz="1100" dirty="0"/>
          </a:p>
        </p:txBody>
      </p:sp>
      <p:sp>
        <p:nvSpPr>
          <p:cNvPr id="65" name="AutoShape 14">
            <a:extLst>
              <a:ext uri="{FF2B5EF4-FFF2-40B4-BE49-F238E27FC236}">
                <a16:creationId xmlns:a16="http://schemas.microsoft.com/office/drawing/2014/main" id="{E0015C17-E2F9-864B-2D9B-F8CB4DDC5D3A}"/>
              </a:ext>
            </a:extLst>
          </p:cNvPr>
          <p:cNvSpPr/>
          <p:nvPr/>
        </p:nvSpPr>
        <p:spPr>
          <a:xfrm>
            <a:off x="2251522" y="3204844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核心操作三步内可达，适配无法律基础的普通用户</a:t>
            </a:r>
            <a:r>
              <a:rPr lang="en-US" sz="1100" b="0" i="0" u="none" strike="noStrike" dirty="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66" name="AutoShape 27">
            <a:extLst>
              <a:ext uri="{FF2B5EF4-FFF2-40B4-BE49-F238E27FC236}">
                <a16:creationId xmlns:a16="http://schemas.microsoft.com/office/drawing/2014/main" id="{B35675BD-06BD-82E9-583B-B3D0A45EDB6E}"/>
              </a:ext>
            </a:extLst>
          </p:cNvPr>
          <p:cNvSpPr/>
          <p:nvPr/>
        </p:nvSpPr>
        <p:spPr>
          <a:xfrm>
            <a:off x="4899193" y="1946909"/>
            <a:ext cx="3302000" cy="833119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" name="AutoShape 28">
            <a:extLst>
              <a:ext uri="{FF2B5EF4-FFF2-40B4-BE49-F238E27FC236}">
                <a16:creationId xmlns:a16="http://schemas.microsoft.com/office/drawing/2014/main" id="{D871E151-9B9B-94DD-F76D-738C0FCDDD26}"/>
              </a:ext>
            </a:extLst>
          </p:cNvPr>
          <p:cNvSpPr/>
          <p:nvPr/>
        </p:nvSpPr>
        <p:spPr>
          <a:xfrm>
            <a:off x="4899193" y="1946909"/>
            <a:ext cx="76200" cy="833119"/>
          </a:xfrm>
          <a:prstGeom prst="roundRect">
            <a:avLst>
              <a:gd name="adj" fmla="val 133333"/>
            </a:avLst>
          </a:prstGeom>
          <a:solidFill>
            <a:srgbClr val="0070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" name="AutoShape 29">
            <a:extLst>
              <a:ext uri="{FF2B5EF4-FFF2-40B4-BE49-F238E27FC236}">
                <a16:creationId xmlns:a16="http://schemas.microsoft.com/office/drawing/2014/main" id="{F3761E73-5CCF-2DDC-0AB4-F05BAB1BB5D3}"/>
              </a:ext>
            </a:extLst>
          </p:cNvPr>
          <p:cNvSpPr/>
          <p:nvPr/>
        </p:nvSpPr>
        <p:spPr>
          <a:xfrm>
            <a:off x="5203993" y="2071369"/>
            <a:ext cx="609600" cy="609600"/>
          </a:xfrm>
          <a:prstGeom prst="ellipse">
            <a:avLst/>
          </a:prstGeom>
          <a:solidFill>
            <a:srgbClr val="00704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9" name="Picture 30">
            <a:extLst>
              <a:ext uri="{FF2B5EF4-FFF2-40B4-BE49-F238E27FC236}">
                <a16:creationId xmlns:a16="http://schemas.microsoft.com/office/drawing/2014/main" id="{EAF56E39-4A5E-F4B8-3C69-6CD578068F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56393" y="2223769"/>
            <a:ext cx="304800" cy="304800"/>
          </a:xfrm>
          <a:prstGeom prst="rect">
            <a:avLst/>
          </a:prstGeom>
        </p:spPr>
      </p:pic>
      <p:sp>
        <p:nvSpPr>
          <p:cNvPr id="70" name="AutoShape 31">
            <a:extLst>
              <a:ext uri="{FF2B5EF4-FFF2-40B4-BE49-F238E27FC236}">
                <a16:creationId xmlns:a16="http://schemas.microsoft.com/office/drawing/2014/main" id="{470CFA9C-5859-C68D-B801-23A8F03A8103}"/>
              </a:ext>
            </a:extLst>
          </p:cNvPr>
          <p:cNvSpPr/>
          <p:nvPr/>
        </p:nvSpPr>
        <p:spPr>
          <a:xfrm>
            <a:off x="6032467" y="2007774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案件全周期管理</a:t>
            </a:r>
            <a:endParaRPr lang="en-US" sz="1100" dirty="0"/>
          </a:p>
        </p:txBody>
      </p:sp>
      <p:sp>
        <p:nvSpPr>
          <p:cNvPr id="71" name="AutoShape 32">
            <a:extLst>
              <a:ext uri="{FF2B5EF4-FFF2-40B4-BE49-F238E27FC236}">
                <a16:creationId xmlns:a16="http://schemas.microsoft.com/office/drawing/2014/main" id="{487DCA20-40FA-26F8-2490-A5C64A31001F}"/>
              </a:ext>
            </a:extLst>
          </p:cNvPr>
          <p:cNvSpPr/>
          <p:nvPr/>
        </p:nvSpPr>
        <p:spPr>
          <a:xfrm>
            <a:off x="6054893" y="2214245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建立完整案件档案库，支持进展实时追踪与事后复盘</a:t>
            </a:r>
            <a:r>
              <a:rPr lang="en-US" sz="1100" b="0" i="0" u="none" strike="noStrike" dirty="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78" name="AutoShape 3">
            <a:extLst>
              <a:ext uri="{FF2B5EF4-FFF2-40B4-BE49-F238E27FC236}">
                <a16:creationId xmlns:a16="http://schemas.microsoft.com/office/drawing/2014/main" id="{D554A845-D6E9-F30C-DC92-3E3074BC7CE4}"/>
              </a:ext>
            </a:extLst>
          </p:cNvPr>
          <p:cNvSpPr/>
          <p:nvPr/>
        </p:nvSpPr>
        <p:spPr>
          <a:xfrm>
            <a:off x="4899193" y="2940685"/>
            <a:ext cx="3302000" cy="82296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" name="AutoShape 4">
            <a:extLst>
              <a:ext uri="{FF2B5EF4-FFF2-40B4-BE49-F238E27FC236}">
                <a16:creationId xmlns:a16="http://schemas.microsoft.com/office/drawing/2014/main" id="{AB022FB3-7E98-1C3C-87CA-079430877AE8}"/>
              </a:ext>
            </a:extLst>
          </p:cNvPr>
          <p:cNvSpPr/>
          <p:nvPr/>
        </p:nvSpPr>
        <p:spPr>
          <a:xfrm>
            <a:off x="4899193" y="2940685"/>
            <a:ext cx="76200" cy="822960"/>
          </a:xfrm>
          <a:prstGeom prst="roundRect">
            <a:avLst>
              <a:gd name="adj" fmla="val 133333"/>
            </a:avLst>
          </a:prstGeom>
          <a:solidFill>
            <a:srgbClr val="0070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" name="AutoShape 5">
            <a:extLst>
              <a:ext uri="{FF2B5EF4-FFF2-40B4-BE49-F238E27FC236}">
                <a16:creationId xmlns:a16="http://schemas.microsoft.com/office/drawing/2014/main" id="{73766B70-4769-8C38-C770-4AC1578303F8}"/>
              </a:ext>
            </a:extLst>
          </p:cNvPr>
          <p:cNvSpPr/>
          <p:nvPr/>
        </p:nvSpPr>
        <p:spPr>
          <a:xfrm>
            <a:off x="5203993" y="3067050"/>
            <a:ext cx="609600" cy="609600"/>
          </a:xfrm>
          <a:prstGeom prst="ellipse">
            <a:avLst/>
          </a:prstGeom>
          <a:solidFill>
            <a:srgbClr val="00704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1" name="Picture 6">
            <a:extLst>
              <a:ext uri="{FF2B5EF4-FFF2-40B4-BE49-F238E27FC236}">
                <a16:creationId xmlns:a16="http://schemas.microsoft.com/office/drawing/2014/main" id="{316C17D8-CB53-3FBF-DAAE-0D455A19C8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56393" y="3219450"/>
            <a:ext cx="304800" cy="304800"/>
          </a:xfrm>
          <a:prstGeom prst="rect">
            <a:avLst/>
          </a:prstGeom>
        </p:spPr>
      </p:pic>
      <p:sp>
        <p:nvSpPr>
          <p:cNvPr id="82" name="AutoShape 7">
            <a:extLst>
              <a:ext uri="{FF2B5EF4-FFF2-40B4-BE49-F238E27FC236}">
                <a16:creationId xmlns:a16="http://schemas.microsoft.com/office/drawing/2014/main" id="{1B6CE179-DB19-DE4E-E0B7-9BE87D266E0A}"/>
              </a:ext>
            </a:extLst>
          </p:cNvPr>
          <p:cNvSpPr/>
          <p:nvPr/>
        </p:nvSpPr>
        <p:spPr>
          <a:xfrm>
            <a:off x="6032467" y="3001549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建立一站式维权流程</a:t>
            </a:r>
            <a:endParaRPr lang="en-US" sz="1100" dirty="0"/>
          </a:p>
        </p:txBody>
      </p:sp>
      <p:sp>
        <p:nvSpPr>
          <p:cNvPr id="83" name="AutoShape 8">
            <a:extLst>
              <a:ext uri="{FF2B5EF4-FFF2-40B4-BE49-F238E27FC236}">
                <a16:creationId xmlns:a16="http://schemas.microsoft.com/office/drawing/2014/main" id="{DE554784-8DF9-3553-A9BB-FBF1FA2A962C}"/>
              </a:ext>
            </a:extLst>
          </p:cNvPr>
          <p:cNvSpPr/>
          <p:nvPr/>
        </p:nvSpPr>
        <p:spPr>
          <a:xfrm>
            <a:off x="6054893" y="3204844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整合全环节服务，打造完整闭环，让维权更省心</a:t>
            </a:r>
            <a:r>
              <a:rPr lang="en-US" sz="1100" b="0" i="0" u="none" strike="noStrike" dirty="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84" name="AutoShape 9">
            <a:extLst>
              <a:ext uri="{FF2B5EF4-FFF2-40B4-BE49-F238E27FC236}">
                <a16:creationId xmlns:a16="http://schemas.microsoft.com/office/drawing/2014/main" id="{43CF62B6-01EC-3891-B833-4911DA1D95AD}"/>
              </a:ext>
            </a:extLst>
          </p:cNvPr>
          <p:cNvSpPr/>
          <p:nvPr/>
        </p:nvSpPr>
        <p:spPr>
          <a:xfrm>
            <a:off x="4899193" y="3971385"/>
            <a:ext cx="3302000" cy="818515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" name="AutoShape 10">
            <a:extLst>
              <a:ext uri="{FF2B5EF4-FFF2-40B4-BE49-F238E27FC236}">
                <a16:creationId xmlns:a16="http://schemas.microsoft.com/office/drawing/2014/main" id="{F43F5CB5-791D-EBDD-D218-BCC3361127CE}"/>
              </a:ext>
            </a:extLst>
          </p:cNvPr>
          <p:cNvSpPr/>
          <p:nvPr/>
        </p:nvSpPr>
        <p:spPr>
          <a:xfrm>
            <a:off x="4899193" y="3971385"/>
            <a:ext cx="76200" cy="818515"/>
          </a:xfrm>
          <a:prstGeom prst="roundRect">
            <a:avLst>
              <a:gd name="adj" fmla="val 133333"/>
            </a:avLst>
          </a:prstGeom>
          <a:solidFill>
            <a:srgbClr val="0070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" name="AutoShape 11">
            <a:extLst>
              <a:ext uri="{FF2B5EF4-FFF2-40B4-BE49-F238E27FC236}">
                <a16:creationId xmlns:a16="http://schemas.microsoft.com/office/drawing/2014/main" id="{1071228A-AD8A-6A9D-7435-5F10877B8C6B}"/>
              </a:ext>
            </a:extLst>
          </p:cNvPr>
          <p:cNvSpPr/>
          <p:nvPr/>
        </p:nvSpPr>
        <p:spPr>
          <a:xfrm>
            <a:off x="5203993" y="4091399"/>
            <a:ext cx="609600" cy="609600"/>
          </a:xfrm>
          <a:prstGeom prst="ellipse">
            <a:avLst/>
          </a:prstGeom>
          <a:solidFill>
            <a:srgbClr val="00704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7" name="Picture 12">
            <a:extLst>
              <a:ext uri="{FF2B5EF4-FFF2-40B4-BE49-F238E27FC236}">
                <a16:creationId xmlns:a16="http://schemas.microsoft.com/office/drawing/2014/main" id="{D58033E8-931A-76EB-F0F6-E5957B1514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56393" y="4243799"/>
            <a:ext cx="304800" cy="304800"/>
          </a:xfrm>
          <a:prstGeom prst="rect">
            <a:avLst/>
          </a:prstGeom>
        </p:spPr>
      </p:pic>
      <p:sp>
        <p:nvSpPr>
          <p:cNvPr id="88" name="AutoShape 13">
            <a:extLst>
              <a:ext uri="{FF2B5EF4-FFF2-40B4-BE49-F238E27FC236}">
                <a16:creationId xmlns:a16="http://schemas.microsoft.com/office/drawing/2014/main" id="{1F4D1EB3-D268-ECD5-CCC0-F3DB1B7913FA}"/>
              </a:ext>
            </a:extLst>
          </p:cNvPr>
          <p:cNvSpPr/>
          <p:nvPr/>
        </p:nvSpPr>
        <p:spPr>
          <a:xfrm>
            <a:off x="6042193" y="4027804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降低维权操作门槛</a:t>
            </a:r>
            <a:endParaRPr lang="en-US" sz="1100" dirty="0"/>
          </a:p>
        </p:txBody>
      </p:sp>
      <p:sp>
        <p:nvSpPr>
          <p:cNvPr id="89" name="AutoShape 14">
            <a:extLst>
              <a:ext uri="{FF2B5EF4-FFF2-40B4-BE49-F238E27FC236}">
                <a16:creationId xmlns:a16="http://schemas.microsoft.com/office/drawing/2014/main" id="{B4B7FFF4-DD85-2CAB-C315-B916F9218947}"/>
              </a:ext>
            </a:extLst>
          </p:cNvPr>
          <p:cNvSpPr/>
          <p:nvPr/>
        </p:nvSpPr>
        <p:spPr>
          <a:xfrm>
            <a:off x="6042193" y="4231099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核心操作三步内可达，适配无法律基础的普通用户</a:t>
            </a:r>
            <a:r>
              <a:rPr lang="en-US" sz="1100" b="0" i="0" u="none" strike="noStrike" dirty="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4BE4A8BE-2C38-8C0C-A621-8396D6953B0D}"/>
              </a:ext>
            </a:extLst>
          </p:cNvPr>
          <p:cNvSpPr txBox="1"/>
          <p:nvPr/>
        </p:nvSpPr>
        <p:spPr>
          <a:xfrm>
            <a:off x="663071" y="1565135"/>
            <a:ext cx="1805302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750" b="1" spc="450" dirty="0">
                <a:solidFill>
                  <a:schemeClr val="tx2">
                    <a:alpha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</a:rPr>
              <a:t>PROJECT VISION</a:t>
            </a:r>
          </a:p>
        </p:txBody>
      </p:sp>
    </p:spTree>
    <p:extLst>
      <p:ext uri="{BB962C8B-B14F-4D97-AF65-F5344CB8AC3E}">
        <p14:creationId xmlns:p14="http://schemas.microsoft.com/office/powerpoint/2010/main" val="42880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7000">
        <p:fade/>
      </p:transition>
    </mc:Choice>
    <mc:Fallback xmlns:a14="http://schemas.microsoft.com/office/drawing/2010/main" xmlns="">
      <p:transition spd="med" advClick="0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2" grpId="0"/>
      <p:bldP spid="13" grpId="0"/>
      <p:bldP spid="9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AB9A6-3FCA-39E9-B49F-33DFB9CA5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3C67185-B683-6181-B186-B0577F043F5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4F9A2F5-4CE9-1154-C2EB-5C8196BDFA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30D4CE8-E0F7-782D-62B4-4A19ED8807A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31" r="69450"/>
          <a:stretch/>
        </p:blipFill>
        <p:spPr>
          <a:xfrm>
            <a:off x="1355" y="1107440"/>
            <a:ext cx="2792646" cy="40360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1DD13CA-4E2D-C1C2-0306-C80139EDE60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94" t="28642" r="2208" b="20593"/>
          <a:stretch/>
        </p:blipFill>
        <p:spPr>
          <a:xfrm>
            <a:off x="6024881" y="1473200"/>
            <a:ext cx="2915920" cy="261112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529DFA7-2BDB-6482-5AA2-2A57A92520F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19"/>
          <a:stretch/>
        </p:blipFill>
        <p:spPr>
          <a:xfrm>
            <a:off x="1354" y="3117252"/>
            <a:ext cx="9141291" cy="233934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F452258-37CB-2008-B1B3-768938C6E14C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27" t="64592" r="9210" b="5186"/>
          <a:stretch/>
        </p:blipFill>
        <p:spPr>
          <a:xfrm>
            <a:off x="6146801" y="3635412"/>
            <a:ext cx="2153920" cy="155448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0E75EE5-A92F-F103-7C63-99B108D6AEEE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86" t="79605" r="5987" b="7951"/>
          <a:stretch/>
        </p:blipFill>
        <p:spPr>
          <a:xfrm>
            <a:off x="7203441" y="4407572"/>
            <a:ext cx="1391920" cy="64008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8F51E72-8A7F-0765-B27B-CD9A6E05EEA9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95" b="62667"/>
          <a:stretch/>
        </p:blipFill>
        <p:spPr>
          <a:xfrm>
            <a:off x="3299462" y="-228208"/>
            <a:ext cx="6033685" cy="192024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113F7B9-CF02-373B-7A71-FDBD553BF5BB}"/>
              </a:ext>
            </a:extLst>
          </p:cNvPr>
          <p:cNvSpPr txBox="1"/>
          <p:nvPr/>
        </p:nvSpPr>
        <p:spPr>
          <a:xfrm>
            <a:off x="-18124" y="1065856"/>
            <a:ext cx="4764749" cy="742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5500" spc="225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需求分析</a:t>
            </a:r>
            <a:endParaRPr lang="en-US" altLang="zh-CN" sz="5500" spc="225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795F201-E74D-3B2C-A802-7B3C779081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4496" y="2625028"/>
            <a:ext cx="1912500" cy="16875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07341F5-BBE4-3F6D-1894-65BC51DA6262}"/>
              </a:ext>
            </a:extLst>
          </p:cNvPr>
          <p:cNvSpPr txBox="1"/>
          <p:nvPr/>
        </p:nvSpPr>
        <p:spPr>
          <a:xfrm>
            <a:off x="398913" y="796606"/>
            <a:ext cx="1156244" cy="255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知法</a:t>
            </a:r>
            <a:r>
              <a:rPr lang="en-US" altLang="zh-CN" baseline="30000" dirty="0">
                <a:solidFill>
                  <a:schemeClr val="bg1"/>
                </a:solidFill>
              </a:rPr>
              <a:t>Legal</a:t>
            </a:r>
            <a:endParaRPr lang="en-US" altLang="zh-CN" sz="11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3236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7000">
        <p:fade/>
      </p:transition>
    </mc:Choice>
    <mc:Fallback xmlns="">
      <p:transition spd="med" advClick="0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5" presetClass="path" presetSubtype="0" decel="4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3073 6.17284E-7 L -0.11424 6.17284E-7 " pathEditMode="relative" rAng="0" ptsTypes="AA">
                                      <p:cBhvr>
                                        <p:cTn id="49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57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accel="40000" decel="40000" fill="hold" grpId="2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.03073 6.17284E-7 L 2.22222E-6 6.17284E-7 " pathEditMode="relative" rAng="0" ptsTypes="AA">
                                      <p:cBhvr>
                                        <p:cTn id="5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5" presetClass="path" presetSubtype="0" decel="4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073 3.7037E-7 L 0.11424 3.7037E-7 " pathEditMode="relative" rAng="0" ptsTypes="AA">
                                      <p:cBhvr>
                                        <p:cTn id="63" dur="75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40" y="0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35" presetClass="path" presetSubtype="0" accel="40000" decel="4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8.33333E-7 3.7037E-7 L -0.03073 3.7037E-7 " pathEditMode="relative" rAng="0" ptsTypes="AA">
                                      <p:cBhvr>
                                        <p:cTn id="65" dur="75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1" grpId="2"/>
      <p:bldP spid="7" grpId="0"/>
      <p:bldP spid="7" grpId="1"/>
      <p:bldP spid="7" grpId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381000"/>
            <a:ext cx="800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400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社会痛点</a:t>
            </a:r>
            <a:endParaRPr lang="en-US" sz="825" dirty="0"/>
          </a:p>
        </p:txBody>
      </p:sp>
      <p:sp>
        <p:nvSpPr>
          <p:cNvPr id="3" name="AutoShape 3"/>
          <p:cNvSpPr/>
          <p:nvPr/>
        </p:nvSpPr>
        <p:spPr>
          <a:xfrm>
            <a:off x="571500" y="1047750"/>
            <a:ext cx="2857500" cy="371475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7545" r="17545"/>
          <a:stretch>
            <a:fillRect/>
          </a:stretch>
        </p:blipFill>
        <p:spPr>
          <a:xfrm>
            <a:off x="762000" y="1238250"/>
            <a:ext cx="2476500" cy="3333750"/>
          </a:xfrm>
          <a:prstGeom prst="roundRect">
            <a:avLst>
              <a:gd name="adj" fmla="val 461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任意多边形: 形状 19"/>
          <p:cNvSpPr/>
          <p:nvPr/>
        </p:nvSpPr>
        <p:spPr>
          <a:xfrm>
            <a:off x="4337392" y="1109198"/>
            <a:ext cx="1519238" cy="3619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9601" y="0"/>
                </a:lnTo>
                <a:lnTo>
                  <a:pt x="21600" y="10779"/>
                </a:lnTo>
                <a:lnTo>
                  <a:pt x="19644" y="21600"/>
                </a:lnTo>
                <a:lnTo>
                  <a:pt x="131" y="21600"/>
                </a:lnTo>
              </a:path>
            </a:pathLst>
          </a:custGeom>
          <a:solidFill>
            <a:schemeClr val="accent1"/>
          </a:soli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391109" y="1175765"/>
            <a:ext cx="1476375" cy="215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c="http://schemas.openxmlformats.org/markup-compatibility/2006" xmlns:p14="http://schemas.microsoft.com/office/powerpoint/2010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lnSpc>
                <a:spcPct val="120000"/>
              </a:lnSpc>
              <a:defRPr sz="2600" b="1">
                <a:solidFill>
                  <a:srgbClr val="2E3B47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pPr>
              <a:lnSpc>
                <a:spcPct val="125000"/>
              </a:lnSpc>
              <a:defRPr/>
            </a:pPr>
            <a:r>
              <a:rPr lang="en-US" altLang="zh-CN" sz="1000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信息与能力鸿沟</a:t>
            </a:r>
            <a:endParaRPr lang="en-US" altLang="zh-CN" sz="800" dirty="0">
              <a:solidFill>
                <a:schemeClr val="bg1"/>
              </a:solidFill>
            </a:endParaRPr>
          </a:p>
        </p:txBody>
      </p:sp>
      <p:sp>
        <p:nvSpPr>
          <p:cNvPr id="22" name="任意多边形: 形状 21"/>
          <p:cNvSpPr/>
          <p:nvPr/>
        </p:nvSpPr>
        <p:spPr>
          <a:xfrm>
            <a:off x="3853180" y="1055111"/>
            <a:ext cx="476250" cy="476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gradFill>
            <a:gsLst>
              <a:gs pos="100000">
                <a:srgbClr val="FFFFFF"/>
              </a:gs>
              <a:gs pos="0">
                <a:srgbClr val="D9D9D9"/>
              </a:gs>
            </a:gsLst>
            <a:lin ang="2700000" scaled="1"/>
          </a:gra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>
              <a:solidFill>
                <a:schemeClr val="accent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991060" y="1047750"/>
            <a:ext cx="20478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mc="http://schemas.openxmlformats.org/markup-compatibility/2006" xmlns:p14="http://schemas.microsoft.com/office/powerpoint/2010/main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>
              <a:lnSpc>
                <a:spcPct val="120000"/>
              </a:lnSpc>
              <a:defRPr sz="3000" b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FF6FDB7-19E8-4EC1-8589-9A93E1488E81}"/>
              </a:ext>
            </a:extLst>
          </p:cNvPr>
          <p:cNvSpPr/>
          <p:nvPr/>
        </p:nvSpPr>
        <p:spPr>
          <a:xfrm>
            <a:off x="3853180" y="1644518"/>
            <a:ext cx="4719320" cy="359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c="http://schemas.openxmlformats.org/markup-compatibility/2006" xmlns:p14="http://schemas.microsoft.com/office/powerpoint/2010/main" xmlns="" val="1"/>
            </a:ext>
          </a:extLst>
        </p:spPr>
        <p:txBody>
          <a:bodyPr wrap="square" lIns="19050" tIns="19050" rIns="19050" bIns="19050" anchor="ctr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en-US" altLang="zh-CN" sz="100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流程认知模糊</a:t>
            </a:r>
            <a:r>
              <a:rPr lang="en-US" altLang="zh-CN" sz="10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0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普通民众往往</a:t>
            </a:r>
            <a:r>
              <a:rPr lang="en-US" altLang="zh-CN" sz="100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不了解协商、仲裁等维权方式的适用场景与衔接规则</a:t>
            </a:r>
            <a:endParaRPr lang="en-US" altLang="zh-CN" sz="1000" dirty="0"/>
          </a:p>
          <a:p>
            <a:pPr>
              <a:lnSpc>
                <a:spcPct val="108333"/>
              </a:lnSpc>
            </a:pPr>
            <a:r>
              <a:rPr lang="en-US" altLang="zh-CN" sz="100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证据与能力缺失：材料分散难整理，且</a:t>
            </a:r>
            <a:r>
              <a:rPr lang="zh-CN" altLang="en-US" sz="10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普通人</a:t>
            </a:r>
            <a:r>
              <a:rPr lang="en-US" altLang="zh-CN" sz="100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缺乏撰写规范法律文书的专业能力</a:t>
            </a:r>
            <a:endParaRPr lang="en-US" altLang="zh-CN" sz="1000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8DFDC669-EA1A-EA50-8A55-56FD8410EBB2}"/>
              </a:ext>
            </a:extLst>
          </p:cNvPr>
          <p:cNvSpPr/>
          <p:nvPr/>
        </p:nvSpPr>
        <p:spPr>
          <a:xfrm>
            <a:off x="4336489" y="2179030"/>
            <a:ext cx="1519238" cy="3619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9601" y="0"/>
                </a:lnTo>
                <a:lnTo>
                  <a:pt x="21600" y="10779"/>
                </a:lnTo>
                <a:lnTo>
                  <a:pt x="19644" y="21600"/>
                </a:lnTo>
                <a:lnTo>
                  <a:pt x="131" y="21600"/>
                </a:lnTo>
              </a:path>
            </a:pathLst>
          </a:custGeom>
          <a:solidFill>
            <a:schemeClr val="accent2"/>
          </a:soli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FA6041B-8DCF-CE9E-7D0B-9DB40BA6F400}"/>
              </a:ext>
            </a:extLst>
          </p:cNvPr>
          <p:cNvSpPr/>
          <p:nvPr/>
        </p:nvSpPr>
        <p:spPr>
          <a:xfrm>
            <a:off x="4390206" y="2249796"/>
            <a:ext cx="1476375" cy="207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c="http://schemas.openxmlformats.org/markup-compatibility/2006" xmlns:p14="http://schemas.microsoft.com/office/powerpoint/2010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lnSpc>
                <a:spcPct val="120000"/>
              </a:lnSpc>
              <a:defRPr sz="2600" b="1">
                <a:solidFill>
                  <a:srgbClr val="2E3B47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现有服务供给不足</a:t>
            </a: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7E773EC5-F770-79CC-3D4C-6820FF6A690D}"/>
              </a:ext>
            </a:extLst>
          </p:cNvPr>
          <p:cNvSpPr/>
          <p:nvPr/>
        </p:nvSpPr>
        <p:spPr>
          <a:xfrm>
            <a:off x="3852277" y="2124943"/>
            <a:ext cx="476250" cy="476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gradFill>
            <a:gsLst>
              <a:gs pos="100000">
                <a:srgbClr val="FFFFFF"/>
              </a:gs>
              <a:gs pos="0">
                <a:srgbClr val="D9D9D9"/>
              </a:gs>
            </a:gsLst>
            <a:lin ang="2700000" scaled="1"/>
          </a:gra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A99DDF7-93B6-7205-F8FC-F0D6719C4D2E}"/>
              </a:ext>
            </a:extLst>
          </p:cNvPr>
          <p:cNvSpPr/>
          <p:nvPr/>
        </p:nvSpPr>
        <p:spPr>
          <a:xfrm>
            <a:off x="3990157" y="2117582"/>
            <a:ext cx="20478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mc="http://schemas.openxmlformats.org/markup-compatibility/2006" xmlns:p14="http://schemas.microsoft.com/office/powerpoint/2010/main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>
              <a:lnSpc>
                <a:spcPct val="120000"/>
              </a:lnSpc>
              <a:defRPr sz="3000" b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22424EC7-5DC7-E7A5-21B5-1C176FCF47E0}"/>
              </a:ext>
            </a:extLst>
          </p:cNvPr>
          <p:cNvSpPr/>
          <p:nvPr/>
        </p:nvSpPr>
        <p:spPr>
          <a:xfrm>
            <a:off x="4336489" y="3256223"/>
            <a:ext cx="1519238" cy="3619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9601" y="0"/>
                </a:lnTo>
                <a:lnTo>
                  <a:pt x="21600" y="10779"/>
                </a:lnTo>
                <a:lnTo>
                  <a:pt x="19644" y="21600"/>
                </a:lnTo>
                <a:lnTo>
                  <a:pt x="131" y="21600"/>
                </a:lnTo>
              </a:path>
            </a:pathLst>
          </a:custGeom>
          <a:solidFill>
            <a:schemeClr val="accent3"/>
          </a:soli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7A9449C-5450-DF00-4A53-AA538CE96346}"/>
              </a:ext>
            </a:extLst>
          </p:cNvPr>
          <p:cNvSpPr/>
          <p:nvPr/>
        </p:nvSpPr>
        <p:spPr>
          <a:xfrm>
            <a:off x="4390207" y="3326989"/>
            <a:ext cx="1465520" cy="207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c="http://schemas.openxmlformats.org/markup-compatibility/2006" xmlns:p14="http://schemas.microsoft.com/office/powerpoint/2010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lnSpc>
                <a:spcPct val="120000"/>
              </a:lnSpc>
              <a:defRPr sz="2600" b="1">
                <a:solidFill>
                  <a:srgbClr val="2E3B47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技术带来新机遇</a:t>
            </a: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B6D2F1E9-2850-794F-C448-5D04D5071DCA}"/>
              </a:ext>
            </a:extLst>
          </p:cNvPr>
          <p:cNvSpPr/>
          <p:nvPr/>
        </p:nvSpPr>
        <p:spPr>
          <a:xfrm>
            <a:off x="3852277" y="3202136"/>
            <a:ext cx="476250" cy="476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gradFill>
            <a:gsLst>
              <a:gs pos="100000">
                <a:srgbClr val="FFFFFF"/>
              </a:gs>
              <a:gs pos="0">
                <a:srgbClr val="D9D9D9"/>
              </a:gs>
            </a:gsLst>
            <a:lin ang="2700000" scaled="1"/>
          </a:gra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>
              <a:solidFill>
                <a:schemeClr val="accent3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57EC64A-F4DB-F233-9D76-35C00DD1B1E1}"/>
              </a:ext>
            </a:extLst>
          </p:cNvPr>
          <p:cNvSpPr/>
          <p:nvPr/>
        </p:nvSpPr>
        <p:spPr>
          <a:xfrm>
            <a:off x="3990157" y="3194775"/>
            <a:ext cx="20478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mc="http://schemas.openxmlformats.org/markup-compatibility/2006" xmlns:p14="http://schemas.microsoft.com/office/powerpoint/2010/main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>
              <a:lnSpc>
                <a:spcPct val="120000"/>
              </a:lnSpc>
              <a:defRPr sz="3000" b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00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EB28B06-FC9B-03EB-DB3E-7A4B6AAB46EF}"/>
              </a:ext>
            </a:extLst>
          </p:cNvPr>
          <p:cNvSpPr/>
          <p:nvPr/>
        </p:nvSpPr>
        <p:spPr>
          <a:xfrm>
            <a:off x="3853180" y="2718988"/>
            <a:ext cx="4719320" cy="359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c="http://schemas.openxmlformats.org/markup-compatibility/2006" xmlns:p14="http://schemas.microsoft.com/office/powerpoint/2010/main" xmlns="" val="1"/>
            </a:ext>
          </a:extLst>
        </p:spPr>
        <p:txBody>
          <a:bodyPr wrap="square" lIns="19050" tIns="19050" rIns="19050" bIns="19050" anchor="ctr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en-US" altLang="zh-CN" sz="100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门槛高且不完整：产品多面向专业人士，单</a:t>
            </a:r>
            <a:r>
              <a:rPr lang="zh-CN" altLang="en-US" sz="10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平台使用</a:t>
            </a:r>
            <a:r>
              <a:rPr lang="en-US" altLang="zh-CN" sz="100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难以覆盖全维权流程</a:t>
            </a:r>
            <a:endParaRPr lang="en-US" altLang="zh-CN" sz="1000" dirty="0"/>
          </a:p>
          <a:p>
            <a:pPr>
              <a:lnSpc>
                <a:spcPct val="108333"/>
              </a:lnSpc>
            </a:pPr>
            <a:r>
              <a:rPr lang="en-US" altLang="zh-CN" sz="100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服务成本高昂：全程聘请律师的费用对普通劳动者构成了沉重的经济负担</a:t>
            </a:r>
            <a:endParaRPr lang="en-US" altLang="zh-CN" sz="1000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DA8D208-5927-8A8B-7A81-8F8824FD8857}"/>
              </a:ext>
            </a:extLst>
          </p:cNvPr>
          <p:cNvSpPr/>
          <p:nvPr/>
        </p:nvSpPr>
        <p:spPr>
          <a:xfrm>
            <a:off x="3852277" y="3801947"/>
            <a:ext cx="4719320" cy="359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c="http://schemas.openxmlformats.org/markup-compatibility/2006" xmlns:p14="http://schemas.microsoft.com/office/powerpoint/2010/main" xmlns="" val="1"/>
            </a:ext>
          </a:extLst>
        </p:spPr>
        <p:txBody>
          <a:bodyPr wrap="square" lIns="19050" tIns="19050" rIns="19050" bIns="19050" anchor="ctr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en-US" altLang="zh-CN" sz="10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大</a:t>
            </a:r>
            <a:r>
              <a:rPr lang="zh-CN" altLang="en-US" sz="10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语言</a:t>
            </a:r>
            <a:r>
              <a:rPr lang="en-US" altLang="zh-CN" sz="100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模型与</a:t>
            </a:r>
            <a:r>
              <a:rPr lang="zh-CN" altLang="en-US" sz="10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知识图谱</a:t>
            </a:r>
            <a:r>
              <a:rPr lang="en-US" altLang="zh-CN" sz="100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等技术的快速成熟，为法律专业能力的普惠化提供了坚实的底层技术支撑</a:t>
            </a:r>
            <a:r>
              <a:rPr lang="en-US" altLang="zh-CN" sz="10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altLang="zh-CN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3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800"/>
                            </p:stCondLst>
                            <p:childTnLst>
                              <p:par>
                                <p:cTn id="57" presetID="2" presetClass="entr" presetSubtype="2" fill="hold" grpId="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100"/>
                            </p:stCondLst>
                            <p:childTnLst>
                              <p:par>
                                <p:cTn id="62" presetID="2" presetClass="entr" presetSubtype="2" fill="hold" grpId="0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 advAuto="0"/>
      <p:bldP spid="21" grpId="0" animBg="1" advAuto="0"/>
      <p:bldP spid="22" grpId="0" animBg="1"/>
      <p:bldP spid="23" grpId="0"/>
      <p:bldP spid="24" grpId="0" animBg="1" advAuto="0"/>
      <p:bldP spid="25" grpId="0" animBg="1" advAuto="0"/>
      <p:bldP spid="26" grpId="0" animBg="1" advAuto="0"/>
      <p:bldP spid="27" grpId="0" animBg="1"/>
      <p:bldP spid="28" grpId="0"/>
      <p:bldP spid="29" grpId="0" animBg="1" advAuto="0"/>
      <p:bldP spid="30" grpId="0" animBg="1" advAuto="0"/>
      <p:bldP spid="31" grpId="0" animBg="1"/>
      <p:bldP spid="32" grpId="0"/>
      <p:bldP spid="33" grpId="0" animBg="1" advAuto="0"/>
      <p:bldP spid="34" grpId="0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31" r="69450"/>
          <a:stretch>
            <a:fillRect/>
          </a:stretch>
        </p:blipFill>
        <p:spPr>
          <a:xfrm>
            <a:off x="1355" y="1107440"/>
            <a:ext cx="2792646" cy="40360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94" t="28642" r="2208" b="20593"/>
          <a:stretch>
            <a:fillRect/>
          </a:stretch>
        </p:blipFill>
        <p:spPr>
          <a:xfrm>
            <a:off x="6024881" y="1473200"/>
            <a:ext cx="2915920" cy="26111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19"/>
          <a:stretch>
            <a:fillRect/>
          </a:stretch>
        </p:blipFill>
        <p:spPr>
          <a:xfrm>
            <a:off x="1354" y="3112807"/>
            <a:ext cx="9141291" cy="23393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27" t="64592" r="9210" b="5186"/>
          <a:stretch>
            <a:fillRect/>
          </a:stretch>
        </p:blipFill>
        <p:spPr>
          <a:xfrm>
            <a:off x="6146801" y="3635412"/>
            <a:ext cx="2153920" cy="15544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86" t="79605" r="5987" b="7951"/>
          <a:stretch>
            <a:fillRect/>
          </a:stretch>
        </p:blipFill>
        <p:spPr>
          <a:xfrm>
            <a:off x="7203441" y="4407572"/>
            <a:ext cx="1391920" cy="640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95" b="62667"/>
          <a:stretch>
            <a:fillRect/>
          </a:stretch>
        </p:blipFill>
        <p:spPr>
          <a:xfrm>
            <a:off x="3299462" y="-228208"/>
            <a:ext cx="6033685" cy="192024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-18124" y="1065856"/>
            <a:ext cx="4764749" cy="742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500" b="0" i="0" u="none" strike="noStrike" kern="1200" cap="none" spc="2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rPr>
              <a:t>关键功能</a:t>
            </a:r>
            <a:endParaRPr kumimoji="0" lang="en-US" altLang="zh-CN" sz="5500" b="0" i="0" u="none" strike="noStrike" kern="1200" cap="none" spc="225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4496" y="2625028"/>
            <a:ext cx="1912500" cy="16875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98913" y="796606"/>
            <a:ext cx="1156244" cy="255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Light"/>
                <a:ea typeface="+mn-ea"/>
                <a:cs typeface="+mn-cs"/>
              </a:rPr>
              <a:t>知法</a:t>
            </a:r>
            <a:r>
              <a:rPr kumimoji="0" lang="en-US" altLang="zh-CN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Light"/>
                <a:ea typeface="+mn-ea"/>
                <a:cs typeface="+mn-cs"/>
              </a:rPr>
              <a:t>Legal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7000">
        <p:fade/>
      </p:transition>
    </mc:Choice>
    <mc:Fallback xmlns="">
      <p:transition spd="med" advClick="0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5" presetClass="path" presetSubtype="0" decel="4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3073 6.17284E-7 L -0.11424 6.17284E-7 " pathEditMode="relative" rAng="0" ptsTypes="AA">
                                      <p:cBhvr>
                                        <p:cTn id="49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57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accel="40000" decel="40000" fill="hold" grpId="2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.03073 6.17284E-7 L 2.22222E-6 6.17284E-7 " pathEditMode="relative" rAng="0" ptsTypes="AA">
                                      <p:cBhvr>
                                        <p:cTn id="5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5" presetClass="path" presetSubtype="0" decel="4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073 3.7037E-7 L 0.11424 3.7037E-7 " pathEditMode="relative" rAng="0" ptsTypes="AA">
                                      <p:cBhvr>
                                        <p:cTn id="63" dur="75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40" y="0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35" presetClass="path" presetSubtype="0" accel="40000" decel="4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8.33333E-7 3.7037E-7 L -0.03073 3.7037E-7 " pathEditMode="relative" rAng="0" ptsTypes="AA">
                                      <p:cBhvr>
                                        <p:cTn id="65" dur="75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1" grpId="2"/>
      <p:bldP spid="7" grpId="0"/>
      <p:bldP spid="7" grpId="1"/>
      <p:bldP spid="7" grpId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/>
          <p:nvPr/>
        </p:nvSpPr>
        <p:spPr bwMode="auto">
          <a:xfrm>
            <a:off x="2322195" y="3675380"/>
            <a:ext cx="1494155" cy="403860"/>
          </a:xfrm>
          <a:custGeom>
            <a:avLst/>
            <a:gdLst>
              <a:gd name="T0" fmla="*/ 379 w 379"/>
              <a:gd name="T1" fmla="*/ 143 h 143"/>
              <a:gd name="T2" fmla="*/ 72 w 379"/>
              <a:gd name="T3" fmla="*/ 143 h 143"/>
              <a:gd name="T4" fmla="*/ 0 w 379"/>
              <a:gd name="T5" fmla="*/ 71 h 143"/>
              <a:gd name="T6" fmla="*/ 0 w 379"/>
              <a:gd name="T7" fmla="*/ 71 h 143"/>
              <a:gd name="T8" fmla="*/ 72 w 379"/>
              <a:gd name="T9" fmla="*/ 0 h 143"/>
              <a:gd name="T10" fmla="*/ 379 w 379"/>
              <a:gd name="T11" fmla="*/ 0 h 143"/>
              <a:gd name="T12" fmla="*/ 379 w 379"/>
              <a:gd name="T1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79" h="143">
                <a:moveTo>
                  <a:pt x="379" y="143"/>
                </a:moveTo>
                <a:cubicBezTo>
                  <a:pt x="72" y="143"/>
                  <a:pt x="72" y="143"/>
                  <a:pt x="72" y="143"/>
                </a:cubicBezTo>
                <a:cubicBezTo>
                  <a:pt x="32" y="143"/>
                  <a:pt x="0" y="111"/>
                  <a:pt x="0" y="71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2"/>
                  <a:pt x="32" y="0"/>
                  <a:pt x="72" y="0"/>
                </a:cubicBezTo>
                <a:cubicBezTo>
                  <a:pt x="379" y="0"/>
                  <a:pt x="379" y="0"/>
                  <a:pt x="379" y="0"/>
                </a:cubicBezTo>
                <a:lnTo>
                  <a:pt x="379" y="1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6" name="任意多边形: 形状 5"/>
          <p:cNvSpPr/>
          <p:nvPr/>
        </p:nvSpPr>
        <p:spPr bwMode="auto">
          <a:xfrm>
            <a:off x="3624263" y="3314701"/>
            <a:ext cx="1268016" cy="1098947"/>
          </a:xfrm>
          <a:custGeom>
            <a:avLst/>
            <a:gdLst>
              <a:gd name="T0" fmla="*/ 800 w 1065"/>
              <a:gd name="T1" fmla="*/ 0 h 923"/>
              <a:gd name="T2" fmla="*/ 265 w 1065"/>
              <a:gd name="T3" fmla="*/ 0 h 923"/>
              <a:gd name="T4" fmla="*/ 0 w 1065"/>
              <a:gd name="T5" fmla="*/ 462 h 923"/>
              <a:gd name="T6" fmla="*/ 265 w 1065"/>
              <a:gd name="T7" fmla="*/ 923 h 923"/>
              <a:gd name="T8" fmla="*/ 800 w 1065"/>
              <a:gd name="T9" fmla="*/ 923 h 923"/>
              <a:gd name="T10" fmla="*/ 1065 w 1065"/>
              <a:gd name="T11" fmla="*/ 462 h 923"/>
              <a:gd name="T12" fmla="*/ 800 w 1065"/>
              <a:gd name="T13" fmla="*/ 0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65" h="923">
                <a:moveTo>
                  <a:pt x="800" y="0"/>
                </a:moveTo>
                <a:lnTo>
                  <a:pt x="265" y="0"/>
                </a:lnTo>
                <a:lnTo>
                  <a:pt x="0" y="462"/>
                </a:lnTo>
                <a:lnTo>
                  <a:pt x="265" y="923"/>
                </a:lnTo>
                <a:lnTo>
                  <a:pt x="800" y="923"/>
                </a:lnTo>
                <a:lnTo>
                  <a:pt x="1065" y="462"/>
                </a:lnTo>
                <a:lnTo>
                  <a:pt x="80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7" name="任意多边形: 形状 6"/>
          <p:cNvSpPr/>
          <p:nvPr/>
        </p:nvSpPr>
        <p:spPr bwMode="auto">
          <a:xfrm>
            <a:off x="3784998" y="3455195"/>
            <a:ext cx="946547" cy="820341"/>
          </a:xfrm>
          <a:custGeom>
            <a:avLst/>
            <a:gdLst>
              <a:gd name="T0" fmla="*/ 596 w 795"/>
              <a:gd name="T1" fmla="*/ 0 h 689"/>
              <a:gd name="T2" fmla="*/ 198 w 795"/>
              <a:gd name="T3" fmla="*/ 0 h 689"/>
              <a:gd name="T4" fmla="*/ 0 w 795"/>
              <a:gd name="T5" fmla="*/ 344 h 689"/>
              <a:gd name="T6" fmla="*/ 198 w 795"/>
              <a:gd name="T7" fmla="*/ 689 h 689"/>
              <a:gd name="T8" fmla="*/ 596 w 795"/>
              <a:gd name="T9" fmla="*/ 689 h 689"/>
              <a:gd name="T10" fmla="*/ 795 w 795"/>
              <a:gd name="T11" fmla="*/ 344 h 689"/>
              <a:gd name="T12" fmla="*/ 596 w 795"/>
              <a:gd name="T13" fmla="*/ 0 h 6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95" h="689">
                <a:moveTo>
                  <a:pt x="596" y="0"/>
                </a:moveTo>
                <a:lnTo>
                  <a:pt x="198" y="0"/>
                </a:lnTo>
                <a:lnTo>
                  <a:pt x="0" y="344"/>
                </a:lnTo>
                <a:lnTo>
                  <a:pt x="198" y="689"/>
                </a:lnTo>
                <a:lnTo>
                  <a:pt x="596" y="689"/>
                </a:lnTo>
                <a:lnTo>
                  <a:pt x="795" y="344"/>
                </a:lnTo>
                <a:lnTo>
                  <a:pt x="596" y="0"/>
                </a:lnTo>
                <a:close/>
              </a:path>
            </a:pathLst>
          </a:custGeom>
          <a:gradFill>
            <a:gsLst>
              <a:gs pos="100000">
                <a:srgbClr val="FFFFFF"/>
              </a:gs>
              <a:gs pos="0">
                <a:srgbClr val="D9D9D9"/>
              </a:gs>
            </a:gsLst>
            <a:lin ang="2700000" scaled="1"/>
          </a:gra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8" name="任意多边形: 形状 7"/>
          <p:cNvSpPr/>
          <p:nvPr/>
        </p:nvSpPr>
        <p:spPr bwMode="auto">
          <a:xfrm>
            <a:off x="2321560" y="1391920"/>
            <a:ext cx="1494790" cy="403860"/>
          </a:xfrm>
          <a:custGeom>
            <a:avLst/>
            <a:gdLst>
              <a:gd name="T0" fmla="*/ 379 w 379"/>
              <a:gd name="T1" fmla="*/ 143 h 143"/>
              <a:gd name="T2" fmla="*/ 72 w 379"/>
              <a:gd name="T3" fmla="*/ 143 h 143"/>
              <a:gd name="T4" fmla="*/ 0 w 379"/>
              <a:gd name="T5" fmla="*/ 72 h 143"/>
              <a:gd name="T6" fmla="*/ 0 w 379"/>
              <a:gd name="T7" fmla="*/ 72 h 143"/>
              <a:gd name="T8" fmla="*/ 72 w 379"/>
              <a:gd name="T9" fmla="*/ 0 h 143"/>
              <a:gd name="T10" fmla="*/ 379 w 379"/>
              <a:gd name="T11" fmla="*/ 0 h 143"/>
              <a:gd name="T12" fmla="*/ 379 w 379"/>
              <a:gd name="T1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79" h="143">
                <a:moveTo>
                  <a:pt x="379" y="143"/>
                </a:moveTo>
                <a:cubicBezTo>
                  <a:pt x="72" y="143"/>
                  <a:pt x="72" y="143"/>
                  <a:pt x="72" y="143"/>
                </a:cubicBezTo>
                <a:cubicBezTo>
                  <a:pt x="32" y="143"/>
                  <a:pt x="0" y="111"/>
                  <a:pt x="0" y="72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32"/>
                  <a:pt x="32" y="0"/>
                  <a:pt x="72" y="0"/>
                </a:cubicBezTo>
                <a:cubicBezTo>
                  <a:pt x="379" y="0"/>
                  <a:pt x="379" y="0"/>
                  <a:pt x="379" y="0"/>
                </a:cubicBezTo>
                <a:lnTo>
                  <a:pt x="379" y="14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9" name="任意多边形: 形状 8"/>
          <p:cNvSpPr/>
          <p:nvPr/>
        </p:nvSpPr>
        <p:spPr bwMode="auto">
          <a:xfrm>
            <a:off x="3624263" y="1034654"/>
            <a:ext cx="1268016" cy="1098947"/>
          </a:xfrm>
          <a:custGeom>
            <a:avLst/>
            <a:gdLst>
              <a:gd name="T0" fmla="*/ 800 w 1065"/>
              <a:gd name="T1" fmla="*/ 0 h 923"/>
              <a:gd name="T2" fmla="*/ 265 w 1065"/>
              <a:gd name="T3" fmla="*/ 0 h 923"/>
              <a:gd name="T4" fmla="*/ 0 w 1065"/>
              <a:gd name="T5" fmla="*/ 461 h 923"/>
              <a:gd name="T6" fmla="*/ 265 w 1065"/>
              <a:gd name="T7" fmla="*/ 923 h 923"/>
              <a:gd name="T8" fmla="*/ 800 w 1065"/>
              <a:gd name="T9" fmla="*/ 923 h 923"/>
              <a:gd name="T10" fmla="*/ 1065 w 1065"/>
              <a:gd name="T11" fmla="*/ 461 h 923"/>
              <a:gd name="T12" fmla="*/ 800 w 1065"/>
              <a:gd name="T13" fmla="*/ 0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65" h="923">
                <a:moveTo>
                  <a:pt x="800" y="0"/>
                </a:moveTo>
                <a:lnTo>
                  <a:pt x="265" y="0"/>
                </a:lnTo>
                <a:lnTo>
                  <a:pt x="0" y="461"/>
                </a:lnTo>
                <a:lnTo>
                  <a:pt x="265" y="923"/>
                </a:lnTo>
                <a:lnTo>
                  <a:pt x="800" y="923"/>
                </a:lnTo>
                <a:lnTo>
                  <a:pt x="1065" y="461"/>
                </a:lnTo>
                <a:lnTo>
                  <a:pt x="8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0" name="任意多边形: 形状 9"/>
          <p:cNvSpPr/>
          <p:nvPr/>
        </p:nvSpPr>
        <p:spPr bwMode="auto">
          <a:xfrm>
            <a:off x="3725466" y="1121570"/>
            <a:ext cx="1062038" cy="921544"/>
          </a:xfrm>
          <a:custGeom>
            <a:avLst/>
            <a:gdLst>
              <a:gd name="T0" fmla="*/ 670 w 892"/>
              <a:gd name="T1" fmla="*/ 0 h 774"/>
              <a:gd name="T2" fmla="*/ 225 w 892"/>
              <a:gd name="T3" fmla="*/ 0 h 774"/>
              <a:gd name="T4" fmla="*/ 0 w 892"/>
              <a:gd name="T5" fmla="*/ 388 h 774"/>
              <a:gd name="T6" fmla="*/ 225 w 892"/>
              <a:gd name="T7" fmla="*/ 774 h 774"/>
              <a:gd name="T8" fmla="*/ 670 w 892"/>
              <a:gd name="T9" fmla="*/ 774 h 774"/>
              <a:gd name="T10" fmla="*/ 892 w 892"/>
              <a:gd name="T11" fmla="*/ 388 h 774"/>
              <a:gd name="T12" fmla="*/ 670 w 892"/>
              <a:gd name="T13" fmla="*/ 0 h 7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92" h="774">
                <a:moveTo>
                  <a:pt x="670" y="0"/>
                </a:moveTo>
                <a:lnTo>
                  <a:pt x="225" y="0"/>
                </a:lnTo>
                <a:lnTo>
                  <a:pt x="0" y="388"/>
                </a:lnTo>
                <a:lnTo>
                  <a:pt x="225" y="774"/>
                </a:lnTo>
                <a:lnTo>
                  <a:pt x="670" y="774"/>
                </a:lnTo>
                <a:lnTo>
                  <a:pt x="892" y="388"/>
                </a:lnTo>
                <a:lnTo>
                  <a:pt x="670" y="0"/>
                </a:lnTo>
                <a:close/>
              </a:path>
            </a:pathLst>
          </a:custGeom>
          <a:gradFill>
            <a:gsLst>
              <a:gs pos="100000">
                <a:srgbClr val="FFFFFF"/>
              </a:gs>
              <a:gs pos="0">
                <a:srgbClr val="D9D9D9"/>
              </a:gs>
            </a:gsLst>
            <a:lin ang="2700000" scaled="1"/>
          </a:gra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7" name="任意多边形: 形状 16"/>
          <p:cNvSpPr/>
          <p:nvPr/>
        </p:nvSpPr>
        <p:spPr bwMode="auto">
          <a:xfrm>
            <a:off x="5630545" y="2533650"/>
            <a:ext cx="1565910" cy="403860"/>
          </a:xfrm>
          <a:custGeom>
            <a:avLst/>
            <a:gdLst>
              <a:gd name="T0" fmla="*/ 0 w 379"/>
              <a:gd name="T1" fmla="*/ 143 h 143"/>
              <a:gd name="T2" fmla="*/ 307 w 379"/>
              <a:gd name="T3" fmla="*/ 143 h 143"/>
              <a:gd name="T4" fmla="*/ 379 w 379"/>
              <a:gd name="T5" fmla="*/ 72 h 143"/>
              <a:gd name="T6" fmla="*/ 379 w 379"/>
              <a:gd name="T7" fmla="*/ 72 h 143"/>
              <a:gd name="T8" fmla="*/ 307 w 379"/>
              <a:gd name="T9" fmla="*/ 0 h 143"/>
              <a:gd name="T10" fmla="*/ 0 w 379"/>
              <a:gd name="T11" fmla="*/ 0 h 143"/>
              <a:gd name="T12" fmla="*/ 0 w 379"/>
              <a:gd name="T1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79" h="143">
                <a:moveTo>
                  <a:pt x="0" y="143"/>
                </a:moveTo>
                <a:cubicBezTo>
                  <a:pt x="307" y="143"/>
                  <a:pt x="307" y="143"/>
                  <a:pt x="307" y="143"/>
                </a:cubicBezTo>
                <a:cubicBezTo>
                  <a:pt x="347" y="143"/>
                  <a:pt x="379" y="111"/>
                  <a:pt x="379" y="72"/>
                </a:cubicBezTo>
                <a:cubicBezTo>
                  <a:pt x="379" y="72"/>
                  <a:pt x="379" y="72"/>
                  <a:pt x="379" y="72"/>
                </a:cubicBezTo>
                <a:cubicBezTo>
                  <a:pt x="379" y="32"/>
                  <a:pt x="347" y="0"/>
                  <a:pt x="307" y="0"/>
                </a:cubicBezTo>
                <a:cubicBezTo>
                  <a:pt x="0" y="0"/>
                  <a:pt x="0" y="0"/>
                  <a:pt x="0" y="0"/>
                </a:cubicBezTo>
                <a:lnTo>
                  <a:pt x="0" y="1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8" name="任意多边形: 形状 17"/>
          <p:cNvSpPr/>
          <p:nvPr/>
        </p:nvSpPr>
        <p:spPr bwMode="auto">
          <a:xfrm>
            <a:off x="4554141" y="2175272"/>
            <a:ext cx="1268016" cy="1100138"/>
          </a:xfrm>
          <a:custGeom>
            <a:avLst/>
            <a:gdLst>
              <a:gd name="T0" fmla="*/ 798 w 1065"/>
              <a:gd name="T1" fmla="*/ 0 h 924"/>
              <a:gd name="T2" fmla="*/ 265 w 1065"/>
              <a:gd name="T3" fmla="*/ 0 h 924"/>
              <a:gd name="T4" fmla="*/ 0 w 1065"/>
              <a:gd name="T5" fmla="*/ 462 h 924"/>
              <a:gd name="T6" fmla="*/ 265 w 1065"/>
              <a:gd name="T7" fmla="*/ 924 h 924"/>
              <a:gd name="T8" fmla="*/ 798 w 1065"/>
              <a:gd name="T9" fmla="*/ 924 h 924"/>
              <a:gd name="T10" fmla="*/ 1065 w 1065"/>
              <a:gd name="T11" fmla="*/ 462 h 924"/>
              <a:gd name="T12" fmla="*/ 798 w 1065"/>
              <a:gd name="T13" fmla="*/ 0 h 9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65" h="924">
                <a:moveTo>
                  <a:pt x="798" y="0"/>
                </a:moveTo>
                <a:lnTo>
                  <a:pt x="265" y="0"/>
                </a:lnTo>
                <a:lnTo>
                  <a:pt x="0" y="462"/>
                </a:lnTo>
                <a:lnTo>
                  <a:pt x="265" y="924"/>
                </a:lnTo>
                <a:lnTo>
                  <a:pt x="798" y="924"/>
                </a:lnTo>
                <a:lnTo>
                  <a:pt x="1065" y="462"/>
                </a:lnTo>
                <a:lnTo>
                  <a:pt x="79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9" name="任意多边形: 形状 18"/>
          <p:cNvSpPr/>
          <p:nvPr/>
        </p:nvSpPr>
        <p:spPr bwMode="auto">
          <a:xfrm>
            <a:off x="4714876" y="2313385"/>
            <a:ext cx="946547" cy="820341"/>
          </a:xfrm>
          <a:custGeom>
            <a:avLst/>
            <a:gdLst>
              <a:gd name="T0" fmla="*/ 596 w 795"/>
              <a:gd name="T1" fmla="*/ 0 h 689"/>
              <a:gd name="T2" fmla="*/ 199 w 795"/>
              <a:gd name="T3" fmla="*/ 0 h 689"/>
              <a:gd name="T4" fmla="*/ 0 w 795"/>
              <a:gd name="T5" fmla="*/ 346 h 689"/>
              <a:gd name="T6" fmla="*/ 199 w 795"/>
              <a:gd name="T7" fmla="*/ 689 h 689"/>
              <a:gd name="T8" fmla="*/ 596 w 795"/>
              <a:gd name="T9" fmla="*/ 689 h 689"/>
              <a:gd name="T10" fmla="*/ 795 w 795"/>
              <a:gd name="T11" fmla="*/ 346 h 689"/>
              <a:gd name="T12" fmla="*/ 596 w 795"/>
              <a:gd name="T13" fmla="*/ 0 h 6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95" h="689">
                <a:moveTo>
                  <a:pt x="596" y="0"/>
                </a:moveTo>
                <a:lnTo>
                  <a:pt x="199" y="0"/>
                </a:lnTo>
                <a:lnTo>
                  <a:pt x="0" y="346"/>
                </a:lnTo>
                <a:lnTo>
                  <a:pt x="199" y="689"/>
                </a:lnTo>
                <a:lnTo>
                  <a:pt x="596" y="689"/>
                </a:lnTo>
                <a:lnTo>
                  <a:pt x="795" y="346"/>
                </a:lnTo>
                <a:lnTo>
                  <a:pt x="596" y="0"/>
                </a:lnTo>
                <a:close/>
              </a:path>
            </a:pathLst>
          </a:custGeom>
          <a:gradFill>
            <a:gsLst>
              <a:gs pos="100000">
                <a:srgbClr val="FFFFFF"/>
              </a:gs>
              <a:gs pos="0">
                <a:srgbClr val="D9D9D9"/>
              </a:gs>
            </a:gsLst>
            <a:lin ang="2700000" scaled="1"/>
          </a:gra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0" name="任意多边形: 形状 19"/>
          <p:cNvSpPr/>
          <p:nvPr/>
        </p:nvSpPr>
        <p:spPr bwMode="auto">
          <a:xfrm>
            <a:off x="4892279" y="1583532"/>
            <a:ext cx="295275" cy="591741"/>
          </a:xfrm>
          <a:custGeom>
            <a:avLst/>
            <a:gdLst>
              <a:gd name="T0" fmla="*/ 0 w 248"/>
              <a:gd name="T1" fmla="*/ 0 h 497"/>
              <a:gd name="T2" fmla="*/ 248 w 248"/>
              <a:gd name="T3" fmla="*/ 0 h 497"/>
              <a:gd name="T4" fmla="*/ 248 w 248"/>
              <a:gd name="T5" fmla="*/ 497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8" h="497">
                <a:moveTo>
                  <a:pt x="0" y="0"/>
                </a:moveTo>
                <a:lnTo>
                  <a:pt x="248" y="0"/>
                </a:lnTo>
                <a:lnTo>
                  <a:pt x="248" y="497"/>
                </a:lnTo>
              </a:path>
            </a:pathLst>
          </a:custGeom>
          <a:noFill/>
          <a:ln w="14288" cap="flat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1" name="任意多边形: 形状 20"/>
          <p:cNvSpPr/>
          <p:nvPr/>
        </p:nvSpPr>
        <p:spPr bwMode="auto">
          <a:xfrm>
            <a:off x="4257675" y="2725341"/>
            <a:ext cx="296466" cy="589360"/>
          </a:xfrm>
          <a:custGeom>
            <a:avLst/>
            <a:gdLst>
              <a:gd name="T0" fmla="*/ 249 w 249"/>
              <a:gd name="T1" fmla="*/ 0 h 495"/>
              <a:gd name="T2" fmla="*/ 0 w 249"/>
              <a:gd name="T3" fmla="*/ 0 h 495"/>
              <a:gd name="T4" fmla="*/ 0 w 249"/>
              <a:gd name="T5" fmla="*/ 495 h 4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9" h="495">
                <a:moveTo>
                  <a:pt x="249" y="0"/>
                </a:moveTo>
                <a:lnTo>
                  <a:pt x="0" y="0"/>
                </a:lnTo>
                <a:lnTo>
                  <a:pt x="0" y="495"/>
                </a:lnTo>
              </a:path>
            </a:pathLst>
          </a:custGeom>
          <a:noFill/>
          <a:ln w="14288" cap="flat">
            <a:solidFill>
              <a:schemeClr val="accent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58791" y="1337576"/>
            <a:ext cx="588669" cy="489558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3600" kern="1200" spc="-150" baseline="0">
                <a:solidFill>
                  <a:schemeClr val="tx1"/>
                </a:solidFill>
                <a:latin typeface="+mj-lt"/>
                <a:ea typeface="Work Sans"/>
                <a:cs typeface="Work Sans"/>
                <a:sym typeface="Work San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-150" normalizeH="0" baseline="0" noProof="0" dirty="0">
                <a:ln>
                  <a:noFill/>
                </a:ln>
                <a:solidFill>
                  <a:srgbClr val="5390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Work Sans"/>
              </a:rPr>
              <a:t> 01</a:t>
            </a:r>
            <a:endParaRPr kumimoji="0" lang="zh-CN" altLang="en-US" sz="3000" b="1" i="0" u="none" strike="noStrike" kern="1200" cap="none" spc="-150" normalizeH="0" baseline="0" noProof="0" dirty="0">
              <a:ln>
                <a:noFill/>
              </a:ln>
              <a:solidFill>
                <a:srgbClr val="5390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Work San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859221" y="2491194"/>
            <a:ext cx="588669" cy="489558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3600" kern="1200" spc="-150" baseline="0">
                <a:solidFill>
                  <a:schemeClr val="tx1"/>
                </a:solidFill>
                <a:latin typeface="+mj-lt"/>
                <a:ea typeface="Work Sans"/>
                <a:cs typeface="Work Sans"/>
                <a:sym typeface="Work San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-150" normalizeH="0" baseline="0" noProof="0" dirty="0">
                <a:ln>
                  <a:noFill/>
                </a:ln>
                <a:solidFill>
                  <a:srgbClr val="31779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Work Sans"/>
              </a:rPr>
              <a:t> 02</a:t>
            </a:r>
            <a:endParaRPr kumimoji="0" lang="zh-CN" altLang="en-US" sz="3000" b="1" i="0" u="none" strike="noStrike" kern="1200" cap="none" spc="-150" normalizeH="0" baseline="0" noProof="0" dirty="0">
              <a:ln>
                <a:noFill/>
              </a:ln>
              <a:solidFill>
                <a:srgbClr val="31779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Work San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962232" y="3635622"/>
            <a:ext cx="588669" cy="489558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3600" kern="1200" spc="-150" baseline="0">
                <a:solidFill>
                  <a:schemeClr val="tx1"/>
                </a:solidFill>
                <a:latin typeface="+mj-lt"/>
                <a:ea typeface="Work Sans"/>
                <a:cs typeface="Work Sans"/>
                <a:sym typeface="Work San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-150" normalizeH="0" baseline="0" noProof="0" dirty="0">
                <a:ln>
                  <a:noFill/>
                </a:ln>
                <a:solidFill>
                  <a:srgbClr val="5390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Work Sans"/>
              </a:rPr>
              <a:t> 03</a:t>
            </a:r>
            <a:endParaRPr kumimoji="0" lang="zh-CN" altLang="en-US" sz="3000" b="1" i="0" u="none" strike="noStrike" kern="1200" cap="none" spc="-150" normalizeH="0" baseline="0" noProof="0" dirty="0">
              <a:ln>
                <a:noFill/>
              </a:ln>
              <a:solidFill>
                <a:srgbClr val="5390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Work San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406296" y="1444891"/>
            <a:ext cx="132588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</a:rPr>
              <a:t>劳动维权指引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750438" y="2585421"/>
            <a:ext cx="132588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</a:rPr>
              <a:t>法律咨询服务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2322097" y="3730318"/>
            <a:ext cx="151638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</a:rPr>
              <a:t>法规与案例检索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895985" y="1861820"/>
            <a:ext cx="2940685" cy="7835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/>
                <a:solidFill>
                  <a:srgbClr val="539059"/>
                </a:solidFill>
                <a:effectLst>
                  <a:outerShdw blurRad="38100" dist="19050" dir="2700000" algn="tl" rotWithShape="0">
                    <a:srgbClr val="262626">
                      <a:alpha val="40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收集个人身份、诉求与阶段，精准匹配维权路径，提供政策解读与普法内容，帮助定位正确程序，避免走错流程</a:t>
            </a:r>
            <a:r>
              <a:rPr kumimoji="0" lang="en-US" sz="1000" b="0" i="0" u="none" strike="noStrike" kern="1200" cap="none" spc="0" normalizeH="0" baseline="0" noProof="0" dirty="0">
                <a:ln/>
                <a:solidFill>
                  <a:srgbClr val="539059"/>
                </a:solidFill>
                <a:effectLst>
                  <a:outerShdw blurRad="38100" dist="19050" dir="2700000" algn="tl" rotWithShape="0">
                    <a:srgbClr val="262626">
                      <a:alpha val="40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。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654675" y="3011170"/>
            <a:ext cx="2940685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1779F">
                    <a:alpha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支持自然语言提问，生成结论清晰的短答复并关联法条，可载入案件信息，提升回答的针对性与智能性。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895350" y="4180840"/>
            <a:ext cx="2920365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9059"/>
                </a:solidFill>
                <a:effectLst>
                  <a:outerShdw blurRad="38100" dist="19050" dir="2700000" algn="tl" rotWithShape="0">
                    <a:srgbClr val="262626">
                      <a:alpha val="40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支持自然语言查询法律法规与类案，自动优化问题并混合检索，快速定位条文与案例详情，降低专业门槛。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3094990" y="221615"/>
            <a:ext cx="2480310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</a:rPr>
              <a:t>关键功能介绍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2968014" y="769513"/>
            <a:ext cx="2854325" cy="194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450" normalizeH="0" baseline="0" noProof="0" dirty="0">
                <a:ln>
                  <a:noFill/>
                </a:ln>
                <a:solidFill>
                  <a:srgbClr val="080808">
                    <a:lumMod val="60000"/>
                    <a:lumOff val="4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</a:rPr>
              <a:t>Key Features Introduction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"/>
    </mc:Choice>
    <mc:Fallback xmlns="">
      <p:transition spd="slow" advClick="0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14" grpId="0"/>
      <p:bldP spid="16" grpId="0"/>
      <p:bldP spid="23" grpId="0"/>
      <p:bldP spid="24" grpId="0"/>
      <p:bldP spid="25" grpId="0"/>
      <p:bldP spid="26" grpId="0"/>
      <p:bldP spid="28" grpId="0"/>
      <p:bldP spid="29" grpId="0"/>
      <p:bldP spid="31" grpId="0"/>
      <p:bldP spid="27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/>
          <p:nvPr/>
        </p:nvSpPr>
        <p:spPr bwMode="auto">
          <a:xfrm>
            <a:off x="2322195" y="3675380"/>
            <a:ext cx="1494155" cy="403860"/>
          </a:xfrm>
          <a:custGeom>
            <a:avLst/>
            <a:gdLst>
              <a:gd name="T0" fmla="*/ 379 w 379"/>
              <a:gd name="T1" fmla="*/ 143 h 143"/>
              <a:gd name="T2" fmla="*/ 72 w 379"/>
              <a:gd name="T3" fmla="*/ 143 h 143"/>
              <a:gd name="T4" fmla="*/ 0 w 379"/>
              <a:gd name="T5" fmla="*/ 71 h 143"/>
              <a:gd name="T6" fmla="*/ 0 w 379"/>
              <a:gd name="T7" fmla="*/ 71 h 143"/>
              <a:gd name="T8" fmla="*/ 72 w 379"/>
              <a:gd name="T9" fmla="*/ 0 h 143"/>
              <a:gd name="T10" fmla="*/ 379 w 379"/>
              <a:gd name="T11" fmla="*/ 0 h 143"/>
              <a:gd name="T12" fmla="*/ 379 w 379"/>
              <a:gd name="T1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79" h="143">
                <a:moveTo>
                  <a:pt x="379" y="143"/>
                </a:moveTo>
                <a:cubicBezTo>
                  <a:pt x="72" y="143"/>
                  <a:pt x="72" y="143"/>
                  <a:pt x="72" y="143"/>
                </a:cubicBezTo>
                <a:cubicBezTo>
                  <a:pt x="32" y="143"/>
                  <a:pt x="0" y="111"/>
                  <a:pt x="0" y="71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2"/>
                  <a:pt x="32" y="0"/>
                  <a:pt x="72" y="0"/>
                </a:cubicBezTo>
                <a:cubicBezTo>
                  <a:pt x="379" y="0"/>
                  <a:pt x="379" y="0"/>
                  <a:pt x="379" y="0"/>
                </a:cubicBezTo>
                <a:lnTo>
                  <a:pt x="379" y="1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6" name="任意多边形: 形状 5"/>
          <p:cNvSpPr/>
          <p:nvPr/>
        </p:nvSpPr>
        <p:spPr bwMode="auto">
          <a:xfrm>
            <a:off x="3624263" y="3314701"/>
            <a:ext cx="1268016" cy="1098947"/>
          </a:xfrm>
          <a:custGeom>
            <a:avLst/>
            <a:gdLst>
              <a:gd name="T0" fmla="*/ 800 w 1065"/>
              <a:gd name="T1" fmla="*/ 0 h 923"/>
              <a:gd name="T2" fmla="*/ 265 w 1065"/>
              <a:gd name="T3" fmla="*/ 0 h 923"/>
              <a:gd name="T4" fmla="*/ 0 w 1065"/>
              <a:gd name="T5" fmla="*/ 462 h 923"/>
              <a:gd name="T6" fmla="*/ 265 w 1065"/>
              <a:gd name="T7" fmla="*/ 923 h 923"/>
              <a:gd name="T8" fmla="*/ 800 w 1065"/>
              <a:gd name="T9" fmla="*/ 923 h 923"/>
              <a:gd name="T10" fmla="*/ 1065 w 1065"/>
              <a:gd name="T11" fmla="*/ 462 h 923"/>
              <a:gd name="T12" fmla="*/ 800 w 1065"/>
              <a:gd name="T13" fmla="*/ 0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65" h="923">
                <a:moveTo>
                  <a:pt x="800" y="0"/>
                </a:moveTo>
                <a:lnTo>
                  <a:pt x="265" y="0"/>
                </a:lnTo>
                <a:lnTo>
                  <a:pt x="0" y="462"/>
                </a:lnTo>
                <a:lnTo>
                  <a:pt x="265" y="923"/>
                </a:lnTo>
                <a:lnTo>
                  <a:pt x="800" y="923"/>
                </a:lnTo>
                <a:lnTo>
                  <a:pt x="1065" y="462"/>
                </a:lnTo>
                <a:lnTo>
                  <a:pt x="80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7" name="任意多边形: 形状 6"/>
          <p:cNvSpPr/>
          <p:nvPr/>
        </p:nvSpPr>
        <p:spPr bwMode="auto">
          <a:xfrm>
            <a:off x="3784998" y="3455195"/>
            <a:ext cx="946547" cy="820341"/>
          </a:xfrm>
          <a:custGeom>
            <a:avLst/>
            <a:gdLst>
              <a:gd name="T0" fmla="*/ 596 w 795"/>
              <a:gd name="T1" fmla="*/ 0 h 689"/>
              <a:gd name="T2" fmla="*/ 198 w 795"/>
              <a:gd name="T3" fmla="*/ 0 h 689"/>
              <a:gd name="T4" fmla="*/ 0 w 795"/>
              <a:gd name="T5" fmla="*/ 344 h 689"/>
              <a:gd name="T6" fmla="*/ 198 w 795"/>
              <a:gd name="T7" fmla="*/ 689 h 689"/>
              <a:gd name="T8" fmla="*/ 596 w 795"/>
              <a:gd name="T9" fmla="*/ 689 h 689"/>
              <a:gd name="T10" fmla="*/ 795 w 795"/>
              <a:gd name="T11" fmla="*/ 344 h 689"/>
              <a:gd name="T12" fmla="*/ 596 w 795"/>
              <a:gd name="T13" fmla="*/ 0 h 6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95" h="689">
                <a:moveTo>
                  <a:pt x="596" y="0"/>
                </a:moveTo>
                <a:lnTo>
                  <a:pt x="198" y="0"/>
                </a:lnTo>
                <a:lnTo>
                  <a:pt x="0" y="344"/>
                </a:lnTo>
                <a:lnTo>
                  <a:pt x="198" y="689"/>
                </a:lnTo>
                <a:lnTo>
                  <a:pt x="596" y="689"/>
                </a:lnTo>
                <a:lnTo>
                  <a:pt x="795" y="344"/>
                </a:lnTo>
                <a:lnTo>
                  <a:pt x="596" y="0"/>
                </a:lnTo>
                <a:close/>
              </a:path>
            </a:pathLst>
          </a:custGeom>
          <a:gradFill>
            <a:gsLst>
              <a:gs pos="100000">
                <a:srgbClr val="FFFFFF"/>
              </a:gs>
              <a:gs pos="0">
                <a:srgbClr val="D9D9D9"/>
              </a:gs>
            </a:gsLst>
            <a:lin ang="2700000" scaled="1"/>
          </a:gra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8" name="任意多边形: 形状 7"/>
          <p:cNvSpPr/>
          <p:nvPr/>
        </p:nvSpPr>
        <p:spPr bwMode="auto">
          <a:xfrm>
            <a:off x="2321560" y="1391920"/>
            <a:ext cx="1494790" cy="403860"/>
          </a:xfrm>
          <a:custGeom>
            <a:avLst/>
            <a:gdLst>
              <a:gd name="T0" fmla="*/ 379 w 379"/>
              <a:gd name="T1" fmla="*/ 143 h 143"/>
              <a:gd name="T2" fmla="*/ 72 w 379"/>
              <a:gd name="T3" fmla="*/ 143 h 143"/>
              <a:gd name="T4" fmla="*/ 0 w 379"/>
              <a:gd name="T5" fmla="*/ 72 h 143"/>
              <a:gd name="T6" fmla="*/ 0 w 379"/>
              <a:gd name="T7" fmla="*/ 72 h 143"/>
              <a:gd name="T8" fmla="*/ 72 w 379"/>
              <a:gd name="T9" fmla="*/ 0 h 143"/>
              <a:gd name="T10" fmla="*/ 379 w 379"/>
              <a:gd name="T11" fmla="*/ 0 h 143"/>
              <a:gd name="T12" fmla="*/ 379 w 379"/>
              <a:gd name="T1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79" h="143">
                <a:moveTo>
                  <a:pt x="379" y="143"/>
                </a:moveTo>
                <a:cubicBezTo>
                  <a:pt x="72" y="143"/>
                  <a:pt x="72" y="143"/>
                  <a:pt x="72" y="143"/>
                </a:cubicBezTo>
                <a:cubicBezTo>
                  <a:pt x="32" y="143"/>
                  <a:pt x="0" y="111"/>
                  <a:pt x="0" y="72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32"/>
                  <a:pt x="32" y="0"/>
                  <a:pt x="72" y="0"/>
                </a:cubicBezTo>
                <a:cubicBezTo>
                  <a:pt x="379" y="0"/>
                  <a:pt x="379" y="0"/>
                  <a:pt x="379" y="0"/>
                </a:cubicBezTo>
                <a:lnTo>
                  <a:pt x="379" y="14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9" name="任意多边形: 形状 8"/>
          <p:cNvSpPr/>
          <p:nvPr/>
        </p:nvSpPr>
        <p:spPr bwMode="auto">
          <a:xfrm>
            <a:off x="3624263" y="1034654"/>
            <a:ext cx="1268016" cy="1098947"/>
          </a:xfrm>
          <a:custGeom>
            <a:avLst/>
            <a:gdLst>
              <a:gd name="T0" fmla="*/ 800 w 1065"/>
              <a:gd name="T1" fmla="*/ 0 h 923"/>
              <a:gd name="T2" fmla="*/ 265 w 1065"/>
              <a:gd name="T3" fmla="*/ 0 h 923"/>
              <a:gd name="T4" fmla="*/ 0 w 1065"/>
              <a:gd name="T5" fmla="*/ 461 h 923"/>
              <a:gd name="T6" fmla="*/ 265 w 1065"/>
              <a:gd name="T7" fmla="*/ 923 h 923"/>
              <a:gd name="T8" fmla="*/ 800 w 1065"/>
              <a:gd name="T9" fmla="*/ 923 h 923"/>
              <a:gd name="T10" fmla="*/ 1065 w 1065"/>
              <a:gd name="T11" fmla="*/ 461 h 923"/>
              <a:gd name="T12" fmla="*/ 800 w 1065"/>
              <a:gd name="T13" fmla="*/ 0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65" h="923">
                <a:moveTo>
                  <a:pt x="800" y="0"/>
                </a:moveTo>
                <a:lnTo>
                  <a:pt x="265" y="0"/>
                </a:lnTo>
                <a:lnTo>
                  <a:pt x="0" y="461"/>
                </a:lnTo>
                <a:lnTo>
                  <a:pt x="265" y="923"/>
                </a:lnTo>
                <a:lnTo>
                  <a:pt x="800" y="923"/>
                </a:lnTo>
                <a:lnTo>
                  <a:pt x="1065" y="461"/>
                </a:lnTo>
                <a:lnTo>
                  <a:pt x="8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0" name="任意多边形: 形状 9"/>
          <p:cNvSpPr/>
          <p:nvPr/>
        </p:nvSpPr>
        <p:spPr bwMode="auto">
          <a:xfrm>
            <a:off x="3725466" y="1121570"/>
            <a:ext cx="1062038" cy="921544"/>
          </a:xfrm>
          <a:custGeom>
            <a:avLst/>
            <a:gdLst>
              <a:gd name="T0" fmla="*/ 670 w 892"/>
              <a:gd name="T1" fmla="*/ 0 h 774"/>
              <a:gd name="T2" fmla="*/ 225 w 892"/>
              <a:gd name="T3" fmla="*/ 0 h 774"/>
              <a:gd name="T4" fmla="*/ 0 w 892"/>
              <a:gd name="T5" fmla="*/ 388 h 774"/>
              <a:gd name="T6" fmla="*/ 225 w 892"/>
              <a:gd name="T7" fmla="*/ 774 h 774"/>
              <a:gd name="T8" fmla="*/ 670 w 892"/>
              <a:gd name="T9" fmla="*/ 774 h 774"/>
              <a:gd name="T10" fmla="*/ 892 w 892"/>
              <a:gd name="T11" fmla="*/ 388 h 774"/>
              <a:gd name="T12" fmla="*/ 670 w 892"/>
              <a:gd name="T13" fmla="*/ 0 h 7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92" h="774">
                <a:moveTo>
                  <a:pt x="670" y="0"/>
                </a:moveTo>
                <a:lnTo>
                  <a:pt x="225" y="0"/>
                </a:lnTo>
                <a:lnTo>
                  <a:pt x="0" y="388"/>
                </a:lnTo>
                <a:lnTo>
                  <a:pt x="225" y="774"/>
                </a:lnTo>
                <a:lnTo>
                  <a:pt x="670" y="774"/>
                </a:lnTo>
                <a:lnTo>
                  <a:pt x="892" y="388"/>
                </a:lnTo>
                <a:lnTo>
                  <a:pt x="670" y="0"/>
                </a:lnTo>
                <a:close/>
              </a:path>
            </a:pathLst>
          </a:custGeom>
          <a:gradFill>
            <a:gsLst>
              <a:gs pos="100000">
                <a:srgbClr val="FFFFFF"/>
              </a:gs>
              <a:gs pos="0">
                <a:srgbClr val="D9D9D9"/>
              </a:gs>
            </a:gsLst>
            <a:lin ang="2700000" scaled="1"/>
          </a:gra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7" name="任意多边形: 形状 16"/>
          <p:cNvSpPr/>
          <p:nvPr/>
        </p:nvSpPr>
        <p:spPr bwMode="auto">
          <a:xfrm>
            <a:off x="5630545" y="2533650"/>
            <a:ext cx="1565910" cy="403860"/>
          </a:xfrm>
          <a:custGeom>
            <a:avLst/>
            <a:gdLst>
              <a:gd name="T0" fmla="*/ 0 w 379"/>
              <a:gd name="T1" fmla="*/ 143 h 143"/>
              <a:gd name="T2" fmla="*/ 307 w 379"/>
              <a:gd name="T3" fmla="*/ 143 h 143"/>
              <a:gd name="T4" fmla="*/ 379 w 379"/>
              <a:gd name="T5" fmla="*/ 72 h 143"/>
              <a:gd name="T6" fmla="*/ 379 w 379"/>
              <a:gd name="T7" fmla="*/ 72 h 143"/>
              <a:gd name="T8" fmla="*/ 307 w 379"/>
              <a:gd name="T9" fmla="*/ 0 h 143"/>
              <a:gd name="T10" fmla="*/ 0 w 379"/>
              <a:gd name="T11" fmla="*/ 0 h 143"/>
              <a:gd name="T12" fmla="*/ 0 w 379"/>
              <a:gd name="T1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79" h="143">
                <a:moveTo>
                  <a:pt x="0" y="143"/>
                </a:moveTo>
                <a:cubicBezTo>
                  <a:pt x="307" y="143"/>
                  <a:pt x="307" y="143"/>
                  <a:pt x="307" y="143"/>
                </a:cubicBezTo>
                <a:cubicBezTo>
                  <a:pt x="347" y="143"/>
                  <a:pt x="379" y="111"/>
                  <a:pt x="379" y="72"/>
                </a:cubicBezTo>
                <a:cubicBezTo>
                  <a:pt x="379" y="72"/>
                  <a:pt x="379" y="72"/>
                  <a:pt x="379" y="72"/>
                </a:cubicBezTo>
                <a:cubicBezTo>
                  <a:pt x="379" y="32"/>
                  <a:pt x="347" y="0"/>
                  <a:pt x="307" y="0"/>
                </a:cubicBezTo>
                <a:cubicBezTo>
                  <a:pt x="0" y="0"/>
                  <a:pt x="0" y="0"/>
                  <a:pt x="0" y="0"/>
                </a:cubicBezTo>
                <a:lnTo>
                  <a:pt x="0" y="1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8" name="任意多边形: 形状 17"/>
          <p:cNvSpPr/>
          <p:nvPr/>
        </p:nvSpPr>
        <p:spPr bwMode="auto">
          <a:xfrm>
            <a:off x="4554141" y="2175272"/>
            <a:ext cx="1268016" cy="1100138"/>
          </a:xfrm>
          <a:custGeom>
            <a:avLst/>
            <a:gdLst>
              <a:gd name="T0" fmla="*/ 798 w 1065"/>
              <a:gd name="T1" fmla="*/ 0 h 924"/>
              <a:gd name="T2" fmla="*/ 265 w 1065"/>
              <a:gd name="T3" fmla="*/ 0 h 924"/>
              <a:gd name="T4" fmla="*/ 0 w 1065"/>
              <a:gd name="T5" fmla="*/ 462 h 924"/>
              <a:gd name="T6" fmla="*/ 265 w 1065"/>
              <a:gd name="T7" fmla="*/ 924 h 924"/>
              <a:gd name="T8" fmla="*/ 798 w 1065"/>
              <a:gd name="T9" fmla="*/ 924 h 924"/>
              <a:gd name="T10" fmla="*/ 1065 w 1065"/>
              <a:gd name="T11" fmla="*/ 462 h 924"/>
              <a:gd name="T12" fmla="*/ 798 w 1065"/>
              <a:gd name="T13" fmla="*/ 0 h 9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65" h="924">
                <a:moveTo>
                  <a:pt x="798" y="0"/>
                </a:moveTo>
                <a:lnTo>
                  <a:pt x="265" y="0"/>
                </a:lnTo>
                <a:lnTo>
                  <a:pt x="0" y="462"/>
                </a:lnTo>
                <a:lnTo>
                  <a:pt x="265" y="924"/>
                </a:lnTo>
                <a:lnTo>
                  <a:pt x="798" y="924"/>
                </a:lnTo>
                <a:lnTo>
                  <a:pt x="1065" y="462"/>
                </a:lnTo>
                <a:lnTo>
                  <a:pt x="79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9" name="任意多边形: 形状 18"/>
          <p:cNvSpPr/>
          <p:nvPr/>
        </p:nvSpPr>
        <p:spPr bwMode="auto">
          <a:xfrm>
            <a:off x="4714876" y="2313385"/>
            <a:ext cx="946547" cy="820341"/>
          </a:xfrm>
          <a:custGeom>
            <a:avLst/>
            <a:gdLst>
              <a:gd name="T0" fmla="*/ 596 w 795"/>
              <a:gd name="T1" fmla="*/ 0 h 689"/>
              <a:gd name="T2" fmla="*/ 199 w 795"/>
              <a:gd name="T3" fmla="*/ 0 h 689"/>
              <a:gd name="T4" fmla="*/ 0 w 795"/>
              <a:gd name="T5" fmla="*/ 346 h 689"/>
              <a:gd name="T6" fmla="*/ 199 w 795"/>
              <a:gd name="T7" fmla="*/ 689 h 689"/>
              <a:gd name="T8" fmla="*/ 596 w 795"/>
              <a:gd name="T9" fmla="*/ 689 h 689"/>
              <a:gd name="T10" fmla="*/ 795 w 795"/>
              <a:gd name="T11" fmla="*/ 346 h 689"/>
              <a:gd name="T12" fmla="*/ 596 w 795"/>
              <a:gd name="T13" fmla="*/ 0 h 6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95" h="689">
                <a:moveTo>
                  <a:pt x="596" y="0"/>
                </a:moveTo>
                <a:lnTo>
                  <a:pt x="199" y="0"/>
                </a:lnTo>
                <a:lnTo>
                  <a:pt x="0" y="346"/>
                </a:lnTo>
                <a:lnTo>
                  <a:pt x="199" y="689"/>
                </a:lnTo>
                <a:lnTo>
                  <a:pt x="596" y="689"/>
                </a:lnTo>
                <a:lnTo>
                  <a:pt x="795" y="346"/>
                </a:lnTo>
                <a:lnTo>
                  <a:pt x="596" y="0"/>
                </a:lnTo>
                <a:close/>
              </a:path>
            </a:pathLst>
          </a:custGeom>
          <a:gradFill>
            <a:gsLst>
              <a:gs pos="100000">
                <a:srgbClr val="FFFFFF"/>
              </a:gs>
              <a:gs pos="0">
                <a:srgbClr val="D9D9D9"/>
              </a:gs>
            </a:gsLst>
            <a:lin ang="2700000" scaled="1"/>
          </a:gra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0" name="任意多边形: 形状 19"/>
          <p:cNvSpPr/>
          <p:nvPr/>
        </p:nvSpPr>
        <p:spPr bwMode="auto">
          <a:xfrm>
            <a:off x="4892279" y="1583532"/>
            <a:ext cx="295275" cy="591741"/>
          </a:xfrm>
          <a:custGeom>
            <a:avLst/>
            <a:gdLst>
              <a:gd name="T0" fmla="*/ 0 w 248"/>
              <a:gd name="T1" fmla="*/ 0 h 497"/>
              <a:gd name="T2" fmla="*/ 248 w 248"/>
              <a:gd name="T3" fmla="*/ 0 h 497"/>
              <a:gd name="T4" fmla="*/ 248 w 248"/>
              <a:gd name="T5" fmla="*/ 497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8" h="497">
                <a:moveTo>
                  <a:pt x="0" y="0"/>
                </a:moveTo>
                <a:lnTo>
                  <a:pt x="248" y="0"/>
                </a:lnTo>
                <a:lnTo>
                  <a:pt x="248" y="497"/>
                </a:lnTo>
              </a:path>
            </a:pathLst>
          </a:custGeom>
          <a:noFill/>
          <a:ln w="14288" cap="flat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1" name="任意多边形: 形状 20"/>
          <p:cNvSpPr/>
          <p:nvPr/>
        </p:nvSpPr>
        <p:spPr bwMode="auto">
          <a:xfrm>
            <a:off x="4257675" y="2725341"/>
            <a:ext cx="296466" cy="589360"/>
          </a:xfrm>
          <a:custGeom>
            <a:avLst/>
            <a:gdLst>
              <a:gd name="T0" fmla="*/ 249 w 249"/>
              <a:gd name="T1" fmla="*/ 0 h 495"/>
              <a:gd name="T2" fmla="*/ 0 w 249"/>
              <a:gd name="T3" fmla="*/ 0 h 495"/>
              <a:gd name="T4" fmla="*/ 0 w 249"/>
              <a:gd name="T5" fmla="*/ 495 h 4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9" h="495">
                <a:moveTo>
                  <a:pt x="249" y="0"/>
                </a:moveTo>
                <a:lnTo>
                  <a:pt x="0" y="0"/>
                </a:lnTo>
                <a:lnTo>
                  <a:pt x="0" y="495"/>
                </a:lnTo>
              </a:path>
            </a:pathLst>
          </a:custGeom>
          <a:noFill/>
          <a:ln w="14288" cap="flat">
            <a:solidFill>
              <a:schemeClr val="accent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58791" y="1337576"/>
            <a:ext cx="588669" cy="489558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3600" kern="1200" spc="-150" baseline="0">
                <a:solidFill>
                  <a:schemeClr val="tx1"/>
                </a:solidFill>
                <a:latin typeface="+mj-lt"/>
                <a:ea typeface="Work Sans"/>
                <a:cs typeface="Work Sans"/>
                <a:sym typeface="Work San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-150" normalizeH="0" baseline="0" noProof="0" dirty="0">
                <a:ln>
                  <a:noFill/>
                </a:ln>
                <a:solidFill>
                  <a:srgbClr val="5390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Work Sans"/>
              </a:rPr>
              <a:t> 04</a:t>
            </a:r>
            <a:endParaRPr kumimoji="0" lang="zh-CN" altLang="en-US" sz="3000" b="1" i="0" u="none" strike="noStrike" kern="1200" cap="none" spc="-150" normalizeH="0" baseline="0" noProof="0" dirty="0">
              <a:ln>
                <a:noFill/>
              </a:ln>
              <a:solidFill>
                <a:srgbClr val="5390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Work San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859221" y="2491194"/>
            <a:ext cx="588669" cy="489558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3600" kern="1200" spc="-150" baseline="0">
                <a:solidFill>
                  <a:schemeClr val="tx1"/>
                </a:solidFill>
                <a:latin typeface="+mj-lt"/>
                <a:ea typeface="Work Sans"/>
                <a:cs typeface="Work Sans"/>
                <a:sym typeface="Work San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-150" normalizeH="0" baseline="0" noProof="0" dirty="0">
                <a:ln>
                  <a:noFill/>
                </a:ln>
                <a:solidFill>
                  <a:srgbClr val="31779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Work Sans"/>
              </a:rPr>
              <a:t> 05</a:t>
            </a:r>
            <a:endParaRPr kumimoji="0" lang="zh-CN" altLang="en-US" sz="3000" b="1" i="0" u="none" strike="noStrike" kern="1200" cap="none" spc="-150" normalizeH="0" baseline="0" noProof="0" dirty="0">
              <a:ln>
                <a:noFill/>
              </a:ln>
              <a:solidFill>
                <a:srgbClr val="31779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Work San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962232" y="3635622"/>
            <a:ext cx="588669" cy="489558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3600" kern="1200" spc="-150" baseline="0">
                <a:solidFill>
                  <a:schemeClr val="tx1"/>
                </a:solidFill>
                <a:latin typeface="+mj-lt"/>
                <a:ea typeface="Work Sans"/>
                <a:cs typeface="Work Sans"/>
                <a:sym typeface="Work San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-150" normalizeH="0" baseline="0" noProof="0" dirty="0">
                <a:ln>
                  <a:noFill/>
                </a:ln>
                <a:solidFill>
                  <a:srgbClr val="5390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Work Sans"/>
              </a:rPr>
              <a:t> 06</a:t>
            </a:r>
            <a:endParaRPr kumimoji="0" lang="zh-CN" altLang="en-US" sz="3000" b="1" i="0" u="none" strike="noStrike" kern="1200" cap="none" spc="-150" normalizeH="0" baseline="0" noProof="0" dirty="0">
              <a:ln>
                <a:noFill/>
              </a:ln>
              <a:solidFill>
                <a:srgbClr val="5390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Work San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269136" y="1444891"/>
            <a:ext cx="151638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</a:rPr>
              <a:t>文件审查与摘要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661538" y="2586056"/>
            <a:ext cx="151638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</a:rPr>
              <a:t>文书辅助与生成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2322097" y="3730318"/>
            <a:ext cx="151638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</a:rPr>
              <a:t>案件与证据管理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57580" y="1861820"/>
            <a:ext cx="287909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9059"/>
                </a:solidFill>
                <a:effectLst>
                  <a:outerShdw blurRad="38100" dist="19050" dir="2700000" algn="tl" rotWithShape="0">
                    <a:srgbClr val="262626">
                      <a:alpha val="40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解析多格式文档，支持多视角与自定义规则审查，高亮风险点并给出修改建议，生成结构化摘要与审查报告。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654675" y="3011170"/>
            <a:ext cx="289560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1779F">
                    <a:alpha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提供多类型模板，关联案件与证据档案，一键带入信息生成规范文书，形成“案件—证据—文书”一致链路。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956945" y="4180840"/>
            <a:ext cx="285877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9059"/>
                </a:solidFill>
                <a:effectLst>
                  <a:outerShdw blurRad="38100" dist="19050" dir="2700000" algn="tl" rotWithShape="0">
                    <a:srgbClr val="262626">
                      <a:alpha val="40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条目化管理案件与证据，自动构建知识图谱与时间线，可视化案件关系网，提升材料整理与论证效率。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3094990" y="221615"/>
            <a:ext cx="2472690" cy="4781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/>
                <a:solidFill>
                  <a:srgbClr val="262626"/>
                </a:solidFill>
                <a:effectLst>
                  <a:outerShdw blurRad="38100" dist="19050" dir="2700000" algn="tl" rotWithShape="0">
                    <a:srgbClr val="262626">
                      <a:alpha val="40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</a:rPr>
              <a:t>关键功能介绍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2968014" y="769513"/>
            <a:ext cx="2854325" cy="194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450" normalizeH="0" baseline="0" noProof="0" dirty="0">
                <a:ln>
                  <a:noFill/>
                </a:ln>
                <a:solidFill>
                  <a:srgbClr val="080808">
                    <a:lumMod val="60000"/>
                    <a:lumOff val="4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</a:rPr>
              <a:t>Key Features Introduction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"/>
    </mc:Choice>
    <mc:Fallback xmlns="">
      <p:transition spd="slow" advClick="0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14" grpId="0"/>
      <p:bldP spid="16" grpId="0"/>
      <p:bldP spid="23" grpId="0"/>
      <p:bldP spid="24" grpId="0"/>
      <p:bldP spid="25" grpId="0"/>
      <p:bldP spid="26" grpId="0"/>
      <p:bldP spid="28" grpId="0"/>
      <p:bldP spid="29" grpId="0"/>
      <p:bldP spid="31" grpId="0"/>
      <p:bldP spid="27" grpId="0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381000"/>
            <a:ext cx="800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4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智能引导与路径解读</a:t>
            </a:r>
            <a:endParaRPr lang="en-US" sz="825"/>
          </a:p>
        </p:txBody>
      </p:sp>
      <p:sp>
        <p:nvSpPr>
          <p:cNvPr id="3" name="AutoShape 3"/>
          <p:cNvSpPr/>
          <p:nvPr/>
        </p:nvSpPr>
        <p:spPr>
          <a:xfrm>
            <a:off x="571500" y="1143000"/>
            <a:ext cx="2476500" cy="342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4" name="AutoShape 4"/>
          <p:cNvSpPr/>
          <p:nvPr/>
        </p:nvSpPr>
        <p:spPr>
          <a:xfrm>
            <a:off x="1333500" y="1428750"/>
            <a:ext cx="952500" cy="952500"/>
          </a:xfrm>
          <a:prstGeom prst="ellipse">
            <a:avLst/>
          </a:prstGeom>
          <a:solidFill>
            <a:srgbClr val="E6F2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1625" y="1666875"/>
            <a:ext cx="476250" cy="47625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762000" y="2571750"/>
            <a:ext cx="2095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350" b="1">
                <a:solidFill>
                  <a:srgbClr val="00704A"/>
                </a:solidFill>
                <a:latin typeface="Noto Sans SC"/>
                <a:ea typeface="Noto Sans SC"/>
                <a:cs typeface="Noto Sans SC"/>
                <a:sym typeface="Noto Sans SC"/>
              </a:rPr>
              <a:t>首页智能分流</a:t>
            </a:r>
            <a:endParaRPr lang="en-US" sz="825"/>
          </a:p>
        </p:txBody>
      </p:sp>
      <p:sp>
        <p:nvSpPr>
          <p:cNvPr id="7" name="AutoShape 7"/>
          <p:cNvSpPr/>
          <p:nvPr/>
        </p:nvSpPr>
        <p:spPr>
          <a:xfrm>
            <a:off x="1524000" y="3000375"/>
            <a:ext cx="571500" cy="28575"/>
          </a:xfrm>
          <a:prstGeom prst="roundRect">
            <a:avLst>
              <a:gd name="adj" fmla="val 0"/>
            </a:avLst>
          </a:prstGeom>
          <a:solidFill>
            <a:srgbClr val="00704A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8" name="AutoShape 8"/>
          <p:cNvSpPr/>
          <p:nvPr/>
        </p:nvSpPr>
        <p:spPr>
          <a:xfrm>
            <a:off x="762000" y="3238500"/>
            <a:ext cx="2095500" cy="857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>
              <a:lnSpc>
                <a:spcPct val="125000"/>
              </a:lnSpc>
              <a:defRPr/>
            </a:pPr>
            <a:r>
              <a:rPr lang="en-US" sz="9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用户登录后，通过一系列选择题快速采集其身份、纠纷类型和维权阶段，系统据此精准推荐所需功能入口，实现“一键直达”的高效体验。</a:t>
            </a:r>
            <a:endParaRPr lang="en-US" sz="825"/>
          </a:p>
        </p:txBody>
      </p:sp>
      <p:sp>
        <p:nvSpPr>
          <p:cNvPr id="9" name="AutoShape 9"/>
          <p:cNvSpPr/>
          <p:nvPr/>
        </p:nvSpPr>
        <p:spPr>
          <a:xfrm>
            <a:off x="3333750" y="1143000"/>
            <a:ext cx="2476500" cy="342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10" name="AutoShape 10"/>
          <p:cNvSpPr/>
          <p:nvPr/>
        </p:nvSpPr>
        <p:spPr>
          <a:xfrm>
            <a:off x="4095750" y="1428750"/>
            <a:ext cx="952500" cy="952500"/>
          </a:xfrm>
          <a:prstGeom prst="ellipse">
            <a:avLst/>
          </a:prstGeom>
          <a:solidFill>
            <a:srgbClr val="E6F2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3875" y="1666875"/>
            <a:ext cx="476250" cy="47625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524250" y="2571750"/>
            <a:ext cx="2095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350" b="1">
                <a:solidFill>
                  <a:srgbClr val="00704A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全流程路径解读</a:t>
            </a:r>
            <a:endParaRPr lang="en-US" sz="825"/>
          </a:p>
        </p:txBody>
      </p:sp>
      <p:sp>
        <p:nvSpPr>
          <p:cNvPr id="13" name="AutoShape 13"/>
          <p:cNvSpPr/>
          <p:nvPr/>
        </p:nvSpPr>
        <p:spPr>
          <a:xfrm>
            <a:off x="4286250" y="3000375"/>
            <a:ext cx="571500" cy="28575"/>
          </a:xfrm>
          <a:prstGeom prst="roundRect">
            <a:avLst>
              <a:gd name="adj" fmla="val 0"/>
            </a:avLst>
          </a:prstGeom>
          <a:solidFill>
            <a:srgbClr val="00704A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14" name="AutoShape 14"/>
          <p:cNvSpPr/>
          <p:nvPr/>
        </p:nvSpPr>
        <p:spPr>
          <a:xfrm>
            <a:off x="3524250" y="3238500"/>
            <a:ext cx="2095500" cy="857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>
              <a:lnSpc>
                <a:spcPct val="125000"/>
              </a:lnSpc>
              <a:defRPr/>
            </a:pPr>
            <a:r>
              <a:rPr lang="en-US" sz="9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将协商、调解、投诉、仲裁、诉讼等复杂维权流程，拆解为通俗易懂的分步指南，清晰界定各步骤的适用场景、办理要求与节点衔接关系。</a:t>
            </a:r>
            <a:endParaRPr lang="en-US" sz="825"/>
          </a:p>
        </p:txBody>
      </p:sp>
      <p:sp>
        <p:nvSpPr>
          <p:cNvPr id="15" name="AutoShape 15"/>
          <p:cNvSpPr/>
          <p:nvPr/>
        </p:nvSpPr>
        <p:spPr>
          <a:xfrm>
            <a:off x="6096000" y="1143000"/>
            <a:ext cx="2476500" cy="342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16" name="AutoShape 16"/>
          <p:cNvSpPr/>
          <p:nvPr/>
        </p:nvSpPr>
        <p:spPr>
          <a:xfrm>
            <a:off x="6858000" y="1428750"/>
            <a:ext cx="952500" cy="952500"/>
          </a:xfrm>
          <a:prstGeom prst="ellipse">
            <a:avLst/>
          </a:prstGeom>
          <a:solidFill>
            <a:srgbClr val="E6F2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96125" y="1666875"/>
            <a:ext cx="476250" cy="47625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286500" y="2571750"/>
            <a:ext cx="2095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350" b="1">
                <a:solidFill>
                  <a:srgbClr val="00704A"/>
                </a:solidFill>
                <a:latin typeface="Noto Sans SC"/>
                <a:ea typeface="Noto Sans SC"/>
                <a:cs typeface="Noto Sans SC"/>
                <a:sym typeface="Noto Sans SC"/>
              </a:rPr>
              <a:t>普法与案例聚合</a:t>
            </a:r>
            <a:endParaRPr lang="en-US" sz="825"/>
          </a:p>
        </p:txBody>
      </p:sp>
      <p:sp>
        <p:nvSpPr>
          <p:cNvPr id="19" name="AutoShape 19"/>
          <p:cNvSpPr/>
          <p:nvPr/>
        </p:nvSpPr>
        <p:spPr>
          <a:xfrm>
            <a:off x="7048500" y="3000375"/>
            <a:ext cx="571500" cy="28575"/>
          </a:xfrm>
          <a:prstGeom prst="roundRect">
            <a:avLst>
              <a:gd name="adj" fmla="val 0"/>
            </a:avLst>
          </a:prstGeom>
          <a:solidFill>
            <a:srgbClr val="00704A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20" name="AutoShape 20"/>
          <p:cNvSpPr/>
          <p:nvPr/>
        </p:nvSpPr>
        <p:spPr>
          <a:xfrm>
            <a:off x="6286500" y="3238500"/>
            <a:ext cx="2095500" cy="857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>
              <a:lnSpc>
                <a:spcPct val="125000"/>
              </a:lnSpc>
              <a:defRPr/>
            </a:pPr>
            <a:r>
              <a:rPr lang="en-US" sz="9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聚合官方调解案例、劳动者维权典型判例及常见问题（FAQ）库，构建丰富的参考知识库，支持用户自助查询获取标准解答与指引。</a:t>
            </a:r>
            <a:endParaRPr lang="en-US" sz="825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38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4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AI法律咨询服务</a:t>
            </a:r>
            <a:endParaRPr lang="en-US" sz="825"/>
          </a:p>
        </p:txBody>
      </p:sp>
      <p:sp>
        <p:nvSpPr>
          <p:cNvPr id="3" name="AutoShape 3"/>
          <p:cNvSpPr/>
          <p:nvPr/>
        </p:nvSpPr>
        <p:spPr>
          <a:xfrm>
            <a:off x="571500" y="1047750"/>
            <a:ext cx="3905250" cy="17145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762000" cy="762000"/>
          </a:xfrm>
          <a:prstGeom prst="ellipse">
            <a:avLst/>
          </a:prstGeom>
          <a:solidFill>
            <a:srgbClr val="00704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524000"/>
            <a:ext cx="381000" cy="381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14500" y="1381125"/>
            <a:ext cx="2476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350" b="1">
                <a:solidFill>
                  <a:srgbClr val="00704A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自然语言交互</a:t>
            </a:r>
            <a:endParaRPr lang="en-US" sz="825"/>
          </a:p>
        </p:txBody>
      </p:sp>
      <p:sp>
        <p:nvSpPr>
          <p:cNvPr id="7" name="AutoShape 7"/>
          <p:cNvSpPr/>
          <p:nvPr/>
        </p:nvSpPr>
        <p:spPr>
          <a:xfrm>
            <a:off x="1714500" y="1809750"/>
            <a:ext cx="2476500" cy="666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en-US" sz="9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支持用户使用日常口语提问，系统优先返回通俗易懂的结论性回答，摒弃晦涩冗长的法律条文堆砌，降低理解门槛。</a:t>
            </a:r>
            <a:endParaRPr lang="en-US" sz="825"/>
          </a:p>
        </p:txBody>
      </p:sp>
      <p:sp>
        <p:nvSpPr>
          <p:cNvPr id="8" name="AutoShape 8"/>
          <p:cNvSpPr/>
          <p:nvPr/>
        </p:nvSpPr>
        <p:spPr>
          <a:xfrm>
            <a:off x="4667250" y="1047750"/>
            <a:ext cx="3905250" cy="17145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9" name="AutoShape 9"/>
          <p:cNvSpPr/>
          <p:nvPr/>
        </p:nvSpPr>
        <p:spPr>
          <a:xfrm>
            <a:off x="4857750" y="1333500"/>
            <a:ext cx="762000" cy="762000"/>
          </a:xfrm>
          <a:prstGeom prst="ellipse">
            <a:avLst/>
          </a:prstGeom>
          <a:solidFill>
            <a:srgbClr val="00704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8250" y="1524000"/>
            <a:ext cx="381000" cy="381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810250" y="1381125"/>
            <a:ext cx="2476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350" b="1">
                <a:solidFill>
                  <a:srgbClr val="00704A"/>
                </a:solidFill>
                <a:latin typeface="Noto Sans SC"/>
                <a:ea typeface="Noto Sans SC"/>
                <a:cs typeface="Noto Sans SC"/>
                <a:sym typeface="Noto Sans SC"/>
              </a:rPr>
              <a:t>法条关联与可解释性</a:t>
            </a:r>
            <a:endParaRPr lang="en-US" sz="825"/>
          </a:p>
        </p:txBody>
      </p:sp>
      <p:sp>
        <p:nvSpPr>
          <p:cNvPr id="12" name="AutoShape 12"/>
          <p:cNvSpPr/>
          <p:nvPr/>
        </p:nvSpPr>
        <p:spPr>
          <a:xfrm>
            <a:off x="5810250" y="1809750"/>
            <a:ext cx="2476500" cy="666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en-US" sz="9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所有回答均自动关联对应的法律条文原文，用户可一键跳转查看，确保每一条解答都有清晰、可追溯的法律依据支撑。</a:t>
            </a:r>
            <a:endParaRPr lang="en-US" sz="825"/>
          </a:p>
        </p:txBody>
      </p:sp>
      <p:sp>
        <p:nvSpPr>
          <p:cNvPr id="13" name="AutoShape 13"/>
          <p:cNvSpPr/>
          <p:nvPr/>
        </p:nvSpPr>
        <p:spPr>
          <a:xfrm>
            <a:off x="571500" y="2952750"/>
            <a:ext cx="3905250" cy="17145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14" name="AutoShape 14"/>
          <p:cNvSpPr/>
          <p:nvPr/>
        </p:nvSpPr>
        <p:spPr>
          <a:xfrm>
            <a:off x="762000" y="3238500"/>
            <a:ext cx="762000" cy="762000"/>
          </a:xfrm>
          <a:prstGeom prst="ellipse">
            <a:avLst/>
          </a:prstGeom>
          <a:solidFill>
            <a:srgbClr val="00704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429000"/>
            <a:ext cx="381000" cy="381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714500" y="3286125"/>
            <a:ext cx="2476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350" b="1">
                <a:solidFill>
                  <a:srgbClr val="00704A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上下文感知能力</a:t>
            </a:r>
            <a:endParaRPr lang="en-US" sz="825"/>
          </a:p>
        </p:txBody>
      </p:sp>
      <p:sp>
        <p:nvSpPr>
          <p:cNvPr id="17" name="AutoShape 17"/>
          <p:cNvSpPr/>
          <p:nvPr/>
        </p:nvSpPr>
        <p:spPr>
          <a:xfrm>
            <a:off x="1714500" y="3714750"/>
            <a:ext cx="2476500" cy="666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en-US" sz="9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智能结合用户已填写的案件信息与个人资料，提供针对性的法律建议，避免用户重复描述案情，大幅提升咨询效率。</a:t>
            </a:r>
            <a:endParaRPr lang="en-US" sz="825"/>
          </a:p>
        </p:txBody>
      </p:sp>
      <p:sp>
        <p:nvSpPr>
          <p:cNvPr id="18" name="AutoShape 18"/>
          <p:cNvSpPr/>
          <p:nvPr/>
        </p:nvSpPr>
        <p:spPr>
          <a:xfrm>
            <a:off x="4667250" y="2952750"/>
            <a:ext cx="3905250" cy="17145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19" name="AutoShape 19"/>
          <p:cNvSpPr/>
          <p:nvPr/>
        </p:nvSpPr>
        <p:spPr>
          <a:xfrm>
            <a:off x="4857750" y="3238500"/>
            <a:ext cx="762000" cy="762000"/>
          </a:xfrm>
          <a:prstGeom prst="ellipse">
            <a:avLst/>
          </a:prstGeom>
          <a:solidFill>
            <a:srgbClr val="00704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48250" y="3429000"/>
            <a:ext cx="381000" cy="381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810250" y="3286125"/>
            <a:ext cx="2476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350" b="1">
                <a:solidFill>
                  <a:srgbClr val="00704A"/>
                </a:solidFill>
                <a:latin typeface="Noto Sans SC"/>
                <a:ea typeface="Noto Sans SC"/>
                <a:cs typeface="Noto Sans SC"/>
                <a:sym typeface="Noto Sans SC"/>
              </a:rPr>
              <a:t>会话管理与追溯</a:t>
            </a:r>
            <a:endParaRPr lang="en-US" sz="825"/>
          </a:p>
        </p:txBody>
      </p:sp>
      <p:sp>
        <p:nvSpPr>
          <p:cNvPr id="22" name="AutoShape 22"/>
          <p:cNvSpPr/>
          <p:nvPr/>
        </p:nvSpPr>
        <p:spPr>
          <a:xfrm>
            <a:off x="5810250" y="3714750"/>
            <a:ext cx="2476500" cy="666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en-US" sz="9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咨询记录按会话维度自动存档，用户可随时创建新会话、切换历史会话或回溯完整咨询内容，实现服务的连贯性。</a:t>
            </a:r>
            <a:endParaRPr lang="en-US" sz="825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38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4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智能化证据管理</a:t>
            </a:r>
            <a:endParaRPr lang="en-US" sz="825"/>
          </a:p>
        </p:txBody>
      </p:sp>
      <p:sp>
        <p:nvSpPr>
          <p:cNvPr id="12" name="AutoShape 12"/>
          <p:cNvSpPr/>
          <p:nvPr/>
        </p:nvSpPr>
        <p:spPr>
          <a:xfrm>
            <a:off x="3271838" y="1054735"/>
            <a:ext cx="4572000" cy="17145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14" name="AutoShape 14"/>
          <p:cNvSpPr/>
          <p:nvPr/>
        </p:nvSpPr>
        <p:spPr>
          <a:xfrm>
            <a:off x="5367338" y="1292860"/>
            <a:ext cx="219075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350" b="1">
                <a:solidFill>
                  <a:srgbClr val="00704A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 · 证据时间线</a:t>
            </a:r>
            <a:endParaRPr lang="en-US" sz="825"/>
          </a:p>
        </p:txBody>
      </p:sp>
      <p:sp>
        <p:nvSpPr>
          <p:cNvPr id="15" name="AutoShape 15"/>
          <p:cNvSpPr/>
          <p:nvPr/>
        </p:nvSpPr>
        <p:spPr>
          <a:xfrm>
            <a:off x="5367338" y="1721485"/>
            <a:ext cx="219075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en-US" sz="9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系统自动将分散的证据材料按时间顺序智能串联，生成清晰、直观的案件事实叙事线，帮助用户快速梳理事件脉络。</a:t>
            </a:r>
            <a:endParaRPr lang="en-US" sz="825"/>
          </a:p>
        </p:txBody>
      </p:sp>
      <p:sp>
        <p:nvSpPr>
          <p:cNvPr id="16" name="AutoShape 16"/>
          <p:cNvSpPr/>
          <p:nvPr/>
        </p:nvSpPr>
        <p:spPr>
          <a:xfrm>
            <a:off x="3271838" y="2959735"/>
            <a:ext cx="4572000" cy="17145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18" name="AutoShape 18"/>
          <p:cNvSpPr/>
          <p:nvPr/>
        </p:nvSpPr>
        <p:spPr>
          <a:xfrm>
            <a:off x="5367338" y="3197860"/>
            <a:ext cx="219075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350" b="1">
                <a:solidFill>
                  <a:srgbClr val="00704A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 · 案件关系网</a:t>
            </a:r>
            <a:endParaRPr lang="en-US" sz="825"/>
          </a:p>
        </p:txBody>
      </p:sp>
      <p:sp>
        <p:nvSpPr>
          <p:cNvPr id="19" name="AutoShape 19"/>
          <p:cNvSpPr/>
          <p:nvPr/>
        </p:nvSpPr>
        <p:spPr>
          <a:xfrm>
            <a:off x="5367338" y="3626485"/>
            <a:ext cx="219075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en-US" sz="9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基于NLP与知识图谱技术，自动构建案件人物、单位、事件与证据的关联网络，以可视化图谱形式呈现复杂关系，辅助案情分析。</a:t>
            </a:r>
            <a:endParaRPr lang="en-US" sz="825"/>
          </a:p>
        </p:txBody>
      </p:sp>
      <p:sp>
        <p:nvSpPr>
          <p:cNvPr id="3" name="AutoShape 3"/>
          <p:cNvSpPr/>
          <p:nvPr/>
        </p:nvSpPr>
        <p:spPr>
          <a:xfrm>
            <a:off x="1143000" y="1057910"/>
            <a:ext cx="3238500" cy="36195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4" name="AutoShape 4"/>
          <p:cNvSpPr/>
          <p:nvPr/>
        </p:nvSpPr>
        <p:spPr>
          <a:xfrm>
            <a:off x="1285875" y="1248410"/>
            <a:ext cx="2952750" cy="1524000"/>
          </a:xfrm>
          <a:prstGeom prst="roundRect">
            <a:avLst>
              <a:gd name="adj" fmla="val 5000"/>
            </a:avLst>
          </a:prstGeom>
          <a:solidFill>
            <a:srgbClr val="F2F9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8750" y="143891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47875" y="1486535"/>
            <a:ext cx="200025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350" b="1">
                <a:solidFill>
                  <a:srgbClr val="00704A"/>
                </a:solidFill>
                <a:latin typeface="Noto Sans SC"/>
                <a:ea typeface="Noto Sans SC"/>
                <a:cs typeface="Noto Sans SC"/>
                <a:sym typeface="Noto Sans SC"/>
              </a:rPr>
              <a:t>OCR 智能自动识别</a:t>
            </a:r>
            <a:endParaRPr lang="en-US" sz="825"/>
          </a:p>
        </p:txBody>
      </p:sp>
      <p:sp>
        <p:nvSpPr>
          <p:cNvPr id="7" name="AutoShape 7"/>
          <p:cNvSpPr/>
          <p:nvPr/>
        </p:nvSpPr>
        <p:spPr>
          <a:xfrm>
            <a:off x="1428750" y="2010410"/>
            <a:ext cx="2667000" cy="666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en-US" sz="9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支持上传聊天记录、工资流水、考勤表等各类图片或扫描件，系统利用OCR技术精准提取文字，并自动分类识别证据类型，大幅减少手动录入成本。</a:t>
            </a:r>
            <a:endParaRPr lang="en-US" sz="825"/>
          </a:p>
        </p:txBody>
      </p:sp>
      <p:sp>
        <p:nvSpPr>
          <p:cNvPr id="8" name="AutoShape 8"/>
          <p:cNvSpPr/>
          <p:nvPr/>
        </p:nvSpPr>
        <p:spPr>
          <a:xfrm>
            <a:off x="1285875" y="2962910"/>
            <a:ext cx="2952750" cy="1524000"/>
          </a:xfrm>
          <a:prstGeom prst="roundRect">
            <a:avLst>
              <a:gd name="adj" fmla="val 5000"/>
            </a:avLst>
          </a:prstGeom>
          <a:solidFill>
            <a:srgbClr val="F2F9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8750" y="315341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2047875" y="3201035"/>
            <a:ext cx="200025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350" b="1">
                <a:solidFill>
                  <a:srgbClr val="00704A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系统化管理 &amp; 完整性提示</a:t>
            </a:r>
            <a:endParaRPr lang="en-US" sz="825"/>
          </a:p>
        </p:txBody>
      </p:sp>
      <p:sp>
        <p:nvSpPr>
          <p:cNvPr id="11" name="AutoShape 11"/>
          <p:cNvSpPr/>
          <p:nvPr/>
        </p:nvSpPr>
        <p:spPr>
          <a:xfrm>
            <a:off x="1428750" y="3724910"/>
            <a:ext cx="2667000" cy="666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en-US" sz="9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对所有收集到的证据进行结构化、条目化管理。基于案件类型知识库，智能分析并主动提示用户可能缺失的关键证据材料，确保证据链完整。</a:t>
            </a:r>
            <a:endParaRPr lang="en-US" sz="825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381000"/>
            <a:ext cx="800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4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合同审查与文书生成</a:t>
            </a:r>
            <a:endParaRPr lang="en-US" sz="825"/>
          </a:p>
        </p:txBody>
      </p:sp>
      <p:sp>
        <p:nvSpPr>
          <p:cNvPr id="3" name="AutoShape 3"/>
          <p:cNvSpPr/>
          <p:nvPr/>
        </p:nvSpPr>
        <p:spPr>
          <a:xfrm>
            <a:off x="571500" y="1047750"/>
            <a:ext cx="2476500" cy="352425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4" name="AutoShape 4"/>
          <p:cNvSpPr/>
          <p:nvPr/>
        </p:nvSpPr>
        <p:spPr>
          <a:xfrm>
            <a:off x="1333500" y="1333500"/>
            <a:ext cx="952500" cy="952500"/>
          </a:xfrm>
          <a:prstGeom prst="ellipse">
            <a:avLst/>
          </a:prstGeom>
          <a:solidFill>
            <a:srgbClr val="00704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" y="1524000"/>
            <a:ext cx="571500" cy="5715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762000" y="2476500"/>
            <a:ext cx="2095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350" b="1">
                <a:solidFill>
                  <a:srgbClr val="00704A"/>
                </a:solidFill>
                <a:latin typeface="Noto Sans SC"/>
                <a:ea typeface="Noto Sans SC"/>
                <a:cs typeface="Noto Sans SC"/>
                <a:sym typeface="Noto Sans SC"/>
              </a:rPr>
              <a:t>多视角合同审查</a:t>
            </a:r>
            <a:endParaRPr lang="en-US" sz="825"/>
          </a:p>
        </p:txBody>
      </p:sp>
      <p:sp>
        <p:nvSpPr>
          <p:cNvPr id="7" name="AutoShape 7"/>
          <p:cNvSpPr/>
          <p:nvPr/>
        </p:nvSpPr>
        <p:spPr>
          <a:xfrm>
            <a:off x="762000" y="295275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en-US" sz="900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用户上传劳动合同后，可选择“劳动者视角”进行审查。系统会自动定位并高亮风险条款，并提供具体的合规修改建议</a:t>
            </a:r>
            <a:r>
              <a:rPr lang="en-US" sz="9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825" dirty="0"/>
          </a:p>
        </p:txBody>
      </p:sp>
      <p:sp>
        <p:nvSpPr>
          <p:cNvPr id="8" name="AutoShape 8"/>
          <p:cNvSpPr/>
          <p:nvPr/>
        </p:nvSpPr>
        <p:spPr>
          <a:xfrm>
            <a:off x="3333750" y="1047750"/>
            <a:ext cx="2476500" cy="352425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9" name="AutoShape 9"/>
          <p:cNvSpPr/>
          <p:nvPr/>
        </p:nvSpPr>
        <p:spPr>
          <a:xfrm>
            <a:off x="4095750" y="1333500"/>
            <a:ext cx="952500" cy="952500"/>
          </a:xfrm>
          <a:prstGeom prst="ellipse">
            <a:avLst/>
          </a:prstGeom>
          <a:solidFill>
            <a:srgbClr val="00704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6250" y="1524000"/>
            <a:ext cx="571500" cy="5715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524250" y="2476500"/>
            <a:ext cx="2095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350" b="1">
                <a:solidFill>
                  <a:srgbClr val="00704A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结构化摘要生成</a:t>
            </a:r>
            <a:endParaRPr lang="en-US" sz="825"/>
          </a:p>
        </p:txBody>
      </p:sp>
      <p:sp>
        <p:nvSpPr>
          <p:cNvPr id="12" name="AutoShape 12"/>
          <p:cNvSpPr/>
          <p:nvPr/>
        </p:nvSpPr>
        <p:spPr>
          <a:xfrm>
            <a:off x="3524250" y="295275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en-US" sz="9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基于NLP技术自动提取合同中的主体、期限、岗位、薪酬、工时等核心关键信息，生成结构化数据摘要，帮助用户快速核对与理解核心条款内容。</a:t>
            </a:r>
            <a:endParaRPr lang="en-US" sz="825"/>
          </a:p>
        </p:txBody>
      </p:sp>
      <p:sp>
        <p:nvSpPr>
          <p:cNvPr id="13" name="AutoShape 13"/>
          <p:cNvSpPr/>
          <p:nvPr/>
        </p:nvSpPr>
        <p:spPr>
          <a:xfrm>
            <a:off x="6096000" y="1047750"/>
            <a:ext cx="2476500" cy="352425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14" name="AutoShape 14"/>
          <p:cNvSpPr/>
          <p:nvPr/>
        </p:nvSpPr>
        <p:spPr>
          <a:xfrm>
            <a:off x="6858000" y="1333500"/>
            <a:ext cx="952500" cy="952500"/>
          </a:xfrm>
          <a:prstGeom prst="ellipse">
            <a:avLst/>
          </a:prstGeom>
          <a:solidFill>
            <a:srgbClr val="00704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>
              <a:defRPr/>
            </a:pPr>
            <a:endParaRPr sz="105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8500" y="1524000"/>
            <a:ext cx="571500" cy="5715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286500" y="2476500"/>
            <a:ext cx="2095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350" b="1">
                <a:solidFill>
                  <a:srgbClr val="00704A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全流程文书智能生成</a:t>
            </a:r>
            <a:endParaRPr lang="en-US" sz="825"/>
          </a:p>
        </p:txBody>
      </p:sp>
      <p:sp>
        <p:nvSpPr>
          <p:cNvPr id="17" name="AutoShape 17"/>
          <p:cNvSpPr/>
          <p:nvPr/>
        </p:nvSpPr>
        <p:spPr>
          <a:xfrm>
            <a:off x="6286500" y="295275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en-US" sz="9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提供覆盖调解、投诉、仲裁、诉讼等全流程的官方标准文书模板库，并可自动关联案件信息一键智能填充，高效生成规范、专业的法律文书。</a:t>
            </a:r>
            <a:endParaRPr lang="en-US" sz="825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31" r="69450"/>
          <a:stretch>
            <a:fillRect/>
          </a:stretch>
        </p:blipFill>
        <p:spPr>
          <a:xfrm>
            <a:off x="1355" y="1107440"/>
            <a:ext cx="2792646" cy="40360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94" t="28642" r="2208" b="20593"/>
          <a:stretch>
            <a:fillRect/>
          </a:stretch>
        </p:blipFill>
        <p:spPr>
          <a:xfrm>
            <a:off x="6024881" y="1473200"/>
            <a:ext cx="2915920" cy="26111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19"/>
          <a:stretch>
            <a:fillRect/>
          </a:stretch>
        </p:blipFill>
        <p:spPr>
          <a:xfrm>
            <a:off x="1354" y="3117252"/>
            <a:ext cx="9141291" cy="23393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27" t="64592" r="9210" b="5186"/>
          <a:stretch>
            <a:fillRect/>
          </a:stretch>
        </p:blipFill>
        <p:spPr>
          <a:xfrm>
            <a:off x="6146801" y="3635412"/>
            <a:ext cx="2153920" cy="15544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86" t="79605" r="5987" b="7951"/>
          <a:stretch>
            <a:fillRect/>
          </a:stretch>
        </p:blipFill>
        <p:spPr>
          <a:xfrm>
            <a:off x="7203441" y="4407572"/>
            <a:ext cx="1391920" cy="640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95" b="62667"/>
          <a:stretch>
            <a:fillRect/>
          </a:stretch>
        </p:blipFill>
        <p:spPr>
          <a:xfrm>
            <a:off x="3299462" y="-228208"/>
            <a:ext cx="6033685" cy="192024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-18124" y="1065856"/>
            <a:ext cx="4764749" cy="742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500" b="0" i="0" u="none" strike="noStrike" kern="1200" cap="none" spc="2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rPr>
              <a:t>使用场景</a:t>
            </a:r>
            <a:endParaRPr kumimoji="0" lang="en-US" altLang="zh-CN" sz="5500" b="0" i="0" u="none" strike="noStrike" kern="1200" cap="none" spc="225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4496" y="2625028"/>
            <a:ext cx="1912500" cy="16875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98913" y="796606"/>
            <a:ext cx="1156244" cy="255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Light"/>
                <a:ea typeface="+mn-ea"/>
                <a:cs typeface="+mn-cs"/>
              </a:rPr>
              <a:t>知法</a:t>
            </a:r>
            <a:r>
              <a:rPr kumimoji="0" lang="en-US" altLang="zh-CN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Light"/>
                <a:ea typeface="+mn-ea"/>
                <a:cs typeface="+mn-cs"/>
              </a:rPr>
              <a:t>Legal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7000">
        <p:fade/>
      </p:transition>
    </mc:Choice>
    <mc:Fallback xmlns="">
      <p:transition spd="med" advClick="0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5" presetClass="path" presetSubtype="0" decel="4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3073 6.17284E-7 L -0.11424 6.17284E-7 " pathEditMode="relative" rAng="0" ptsTypes="AA">
                                      <p:cBhvr>
                                        <p:cTn id="49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57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accel="40000" decel="40000" fill="hold" grpId="2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.03073 6.17284E-7 L 2.22222E-6 6.17284E-7 " pathEditMode="relative" rAng="0" ptsTypes="AA">
                                      <p:cBhvr>
                                        <p:cTn id="5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5" presetClass="path" presetSubtype="0" decel="4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073 3.7037E-7 L 0.11424 3.7037E-7 " pathEditMode="relative" rAng="0" ptsTypes="AA">
                                      <p:cBhvr>
                                        <p:cTn id="63" dur="75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40" y="0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35" presetClass="path" presetSubtype="0" accel="40000" decel="4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8.33333E-7 3.7037E-7 L -0.03073 3.7037E-7 " pathEditMode="relative" rAng="0" ptsTypes="AA">
                                      <p:cBhvr>
                                        <p:cTn id="65" dur="75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1" grpId="2"/>
      <p:bldP spid="7" grpId="0"/>
      <p:bldP spid="7" grpId="1"/>
      <p:bldP spid="7" grpId="2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1349658" y="1619737"/>
            <a:ext cx="1519238" cy="3619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9601" y="0"/>
                </a:lnTo>
                <a:lnTo>
                  <a:pt x="21600" y="10779"/>
                </a:lnTo>
                <a:lnTo>
                  <a:pt x="19644" y="21600"/>
                </a:lnTo>
                <a:lnTo>
                  <a:pt x="131" y="21600"/>
                </a:lnTo>
              </a:path>
            </a:pathLst>
          </a:custGeom>
          <a:solidFill>
            <a:schemeClr val="accent1"/>
          </a:soli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03375" y="1664711"/>
            <a:ext cx="1476375" cy="259080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 algn="l">
              <a:lnSpc>
                <a:spcPct val="120000"/>
              </a:lnSpc>
              <a:defRPr sz="2600" b="1">
                <a:solidFill>
                  <a:srgbClr val="2E3B47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0000"/>
                </a:solidFill>
              </a:defRPr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mo"/>
              </a:rPr>
              <a:t>维权路径快速匹配</a:t>
            </a:r>
          </a:p>
        </p:txBody>
      </p:sp>
      <p:sp>
        <p:nvSpPr>
          <p:cNvPr id="7" name="任意多边形: 形状 6"/>
          <p:cNvSpPr/>
          <p:nvPr/>
        </p:nvSpPr>
        <p:spPr>
          <a:xfrm>
            <a:off x="865446" y="1565650"/>
            <a:ext cx="476250" cy="476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gradFill>
            <a:gsLst>
              <a:gs pos="100000">
                <a:srgbClr val="FFFFFF"/>
              </a:gs>
              <a:gs pos="0">
                <a:srgbClr val="D9D9D9"/>
              </a:gs>
            </a:gsLst>
            <a:lin ang="2700000" scaled="1"/>
          </a:gra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539059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00786" y="1558289"/>
            <a:ext cx="20478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spAutoFit/>
          </a:bodyPr>
          <a:lstStyle>
            <a:lvl1pPr>
              <a:lnSpc>
                <a:spcPct val="120000"/>
              </a:lnSpc>
              <a:defRPr sz="3000" b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0000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5390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mo"/>
              </a:rPr>
              <a:t>1</a:t>
            </a:r>
          </a:p>
        </p:txBody>
      </p:sp>
      <p:sp>
        <p:nvSpPr>
          <p:cNvPr id="9" name="矩形 8"/>
          <p:cNvSpPr/>
          <p:nvPr/>
        </p:nvSpPr>
        <p:spPr>
          <a:xfrm>
            <a:off x="921727" y="2377272"/>
            <a:ext cx="1957388" cy="1546225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/>
          <a:p>
            <a:pPr marL="0" marR="0" lvl="0" indent="0" algn="l" defTabSz="17145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9059"/>
                </a:solidFill>
                <a:effectLst/>
                <a:uLnTx/>
                <a:uFillTx/>
                <a:latin typeface="Lato Light"/>
                <a:ea typeface="+mn-ea"/>
                <a:cs typeface="+mn-cs"/>
              </a:rPr>
              <a:t>针对欠薪、辞退、工伤等劳动维权需求，平台首页可快速匹配对应服务。平台拆解全维权流程为分步操作，清晰说明各类维权方式适用场景、办理条件与衔接规则，助力用户按需选择维权路线，规避流程错误、材料重复提交等问题。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539059"/>
              </a:solidFill>
              <a:effectLst/>
              <a:uLnTx/>
              <a:uFillTx/>
              <a:latin typeface="Lato Light"/>
              <a:ea typeface="+mn-ea"/>
              <a:cs typeface="+mn-cs"/>
              <a:sym typeface="Arimo"/>
            </a:endParaRPr>
          </a:p>
        </p:txBody>
      </p:sp>
      <p:sp>
        <p:nvSpPr>
          <p:cNvPr id="10" name="任意多边形: 形状 9"/>
          <p:cNvSpPr/>
          <p:nvPr/>
        </p:nvSpPr>
        <p:spPr>
          <a:xfrm>
            <a:off x="4036453" y="1619737"/>
            <a:ext cx="1519238" cy="3619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9601" y="0"/>
                </a:lnTo>
                <a:lnTo>
                  <a:pt x="21600" y="10779"/>
                </a:lnTo>
                <a:lnTo>
                  <a:pt x="19644" y="21600"/>
                </a:lnTo>
                <a:lnTo>
                  <a:pt x="131" y="21600"/>
                </a:lnTo>
              </a:path>
            </a:pathLst>
          </a:custGeom>
          <a:solidFill>
            <a:schemeClr val="accent2"/>
          </a:soli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064880" y="1665199"/>
            <a:ext cx="1476375" cy="259080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 algn="l">
              <a:lnSpc>
                <a:spcPct val="120000"/>
              </a:lnSpc>
              <a:defRPr sz="2600" b="1">
                <a:solidFill>
                  <a:srgbClr val="2E3B47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0000"/>
                </a:solidFill>
              </a:defRPr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mo"/>
              </a:rPr>
              <a:t>法律咨询与依据匹配</a:t>
            </a:r>
          </a:p>
        </p:txBody>
      </p:sp>
      <p:sp>
        <p:nvSpPr>
          <p:cNvPr id="13" name="任意多边形: 形状 12"/>
          <p:cNvSpPr/>
          <p:nvPr/>
        </p:nvSpPr>
        <p:spPr>
          <a:xfrm>
            <a:off x="3560203" y="1566138"/>
            <a:ext cx="476250" cy="476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gradFill>
            <a:gsLst>
              <a:gs pos="100000">
                <a:srgbClr val="FFFFFF"/>
              </a:gs>
              <a:gs pos="0">
                <a:srgbClr val="D9D9D9"/>
              </a:gs>
            </a:gsLst>
            <a:lin ang="2700000" scaled="1"/>
          </a:gra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31779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698083" y="1558777"/>
            <a:ext cx="20478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spAutoFit/>
          </a:bodyPr>
          <a:lstStyle>
            <a:lvl1pPr>
              <a:lnSpc>
                <a:spcPct val="120000"/>
              </a:lnSpc>
              <a:defRPr sz="3000" b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0000"/>
                </a:solidFill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1779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mo"/>
              </a:rPr>
              <a:t>2</a:t>
            </a:r>
          </a:p>
        </p:txBody>
      </p:sp>
      <p:sp>
        <p:nvSpPr>
          <p:cNvPr id="16" name="任意多边形: 形状 15"/>
          <p:cNvSpPr/>
          <p:nvPr/>
        </p:nvSpPr>
        <p:spPr>
          <a:xfrm>
            <a:off x="6759316" y="1619737"/>
            <a:ext cx="1519238" cy="3619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9601" y="0"/>
                </a:lnTo>
                <a:lnTo>
                  <a:pt x="21600" y="10779"/>
                </a:lnTo>
                <a:lnTo>
                  <a:pt x="19644" y="21600"/>
                </a:lnTo>
                <a:lnTo>
                  <a:pt x="131" y="21600"/>
                </a:lnTo>
              </a:path>
            </a:pathLst>
          </a:custGeom>
          <a:solidFill>
            <a:schemeClr val="accent3"/>
          </a:soli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759694" y="1664711"/>
            <a:ext cx="1465520" cy="259080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 algn="l">
              <a:lnSpc>
                <a:spcPct val="120000"/>
              </a:lnSpc>
              <a:defRPr sz="2600" b="1">
                <a:solidFill>
                  <a:srgbClr val="2E3B47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0000"/>
                </a:solidFill>
              </a:defRPr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mo"/>
              </a:rPr>
              <a:t>劳动合同的风险审查</a:t>
            </a:r>
          </a:p>
        </p:txBody>
      </p:sp>
      <p:sp>
        <p:nvSpPr>
          <p:cNvPr id="19" name="任意多边形: 形状 18"/>
          <p:cNvSpPr/>
          <p:nvPr/>
        </p:nvSpPr>
        <p:spPr>
          <a:xfrm>
            <a:off x="6275104" y="1565650"/>
            <a:ext cx="476250" cy="476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gradFill>
            <a:gsLst>
              <a:gs pos="100000">
                <a:srgbClr val="FFFFFF"/>
              </a:gs>
              <a:gs pos="0">
                <a:srgbClr val="D9D9D9"/>
              </a:gs>
            </a:gsLst>
            <a:lin ang="2700000" scaled="1"/>
          </a:gra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539059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412984" y="1558289"/>
            <a:ext cx="20478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spAutoFit/>
          </a:bodyPr>
          <a:lstStyle>
            <a:lvl1pPr>
              <a:lnSpc>
                <a:spcPct val="120000"/>
              </a:lnSpc>
              <a:defRPr sz="3000" b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0000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5390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mo"/>
              </a:rPr>
              <a:t>3</a:t>
            </a:r>
          </a:p>
        </p:txBody>
      </p:sp>
      <p:sp>
        <p:nvSpPr>
          <p:cNvPr id="22" name="矩形 21"/>
          <p:cNvSpPr/>
          <p:nvPr/>
        </p:nvSpPr>
        <p:spPr>
          <a:xfrm>
            <a:off x="3639844" y="2388702"/>
            <a:ext cx="1957388" cy="1546225"/>
          </a:xfrm>
          <a:prstGeom prst="rect">
            <a:avLst/>
          </a:prstGeom>
          <a:ln w="12700">
            <a:miter lim="400000"/>
          </a:ln>
        </p:spPr>
        <p:txBody>
          <a:bodyPr lIns="19050" tIns="19050" rIns="19050" bIns="19050" anchor="ctr">
            <a:spAutoFit/>
          </a:bodyPr>
          <a:lstStyle/>
          <a:p>
            <a:pPr marL="0" marR="0" lvl="0" indent="0" algn="l" defTabSz="17145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1779F"/>
                </a:solidFill>
                <a:effectLst/>
                <a:uLnTx/>
                <a:uFillTx/>
                <a:latin typeface="Lato Light"/>
                <a:ea typeface="+mn-ea"/>
                <a:cs typeface="+mn-cs"/>
              </a:rPr>
              <a:t>用户可口语化咨询各类劳动纠纷法律问题，平台给出通俗简洁解答，优先明确结论与关键条件，不堆砌繁杂法条。同时自动关联对应法律原文及出处，方便用户核查法律依据；平台留存完整咨询记录，便于用户后续材料准备及对接律师。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31779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mo"/>
              <a:sym typeface="Arimo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412984" y="2388791"/>
            <a:ext cx="1957388" cy="1761490"/>
          </a:xfrm>
          <a:prstGeom prst="rect">
            <a:avLst/>
          </a:prstGeom>
          <a:ln w="12700">
            <a:miter lim="400000"/>
          </a:ln>
        </p:spPr>
        <p:txBody>
          <a:bodyPr lIns="19050" tIns="19050" rIns="19050" bIns="19050" anchor="ctr">
            <a:spAutoFit/>
          </a:bodyPr>
          <a:lstStyle/>
          <a:p>
            <a:pPr marL="0" marR="0" lvl="0" indent="0" algn="l" defTabSz="17145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9059"/>
                </a:solidFill>
                <a:effectLst/>
                <a:uLnTx/>
                <a:uFillTx/>
                <a:latin typeface="Lato Light"/>
                <a:ea typeface="+mn-ea"/>
                <a:cs typeface="+mn-cs"/>
              </a:rPr>
              <a:t>用户签约前可上传劳动合同文本，从劳动者视角进行合同审查。平台依据劳动法规逐条核查条款，精准识别风险点，对应标注问题、风险后果并提供可直接套用的修改方案。同时生成合同结构化摘要，梳理核心信息，助力用户核对关键内容、修改风险条款，防范签约法律风险。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5390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mo"/>
              <a:sym typeface="Arimo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639844" y="248147"/>
            <a:ext cx="1617810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390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</a:rPr>
              <a:t>使用场景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239420" y="779381"/>
            <a:ext cx="2418715" cy="194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450" normalizeH="0" baseline="0" noProof="0" dirty="0">
                <a:ln>
                  <a:noFill/>
                </a:ln>
                <a:solidFill>
                  <a:srgbClr val="080808">
                    <a:alpha val="4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</a:rPr>
              <a:t>Application Scenarios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6000">
        <p:fade/>
      </p:transition>
    </mc:Choice>
    <mc:Fallback xmlns="">
      <p:transition spd="med" advClick="0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indefinite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3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indefinite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800"/>
                            </p:stCondLst>
                            <p:childTnLst>
                              <p:par>
                                <p:cTn id="57" presetID="2" presetClass="entr" presetSubtype="2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indefinite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100"/>
                            </p:stCondLst>
                            <p:childTnLst>
                              <p:par>
                                <p:cTn id="62" presetID="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indefinite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indefinite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indefinite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dvAuto="0"/>
      <p:bldP spid="5" grpId="0" animBg="1" advAuto="0"/>
      <p:bldP spid="7" grpId="0" animBg="1"/>
      <p:bldP spid="8" grpId="0" bldLvl="0" animBg="1"/>
      <p:bldP spid="9" grpId="0" animBg="1" advAuto="0"/>
      <p:bldP spid="10" grpId="0" animBg="1" advAuto="0"/>
      <p:bldP spid="11" grpId="0" animBg="1" advAuto="0"/>
      <p:bldP spid="13" grpId="0" animBg="1"/>
      <p:bldP spid="14" grpId="0"/>
      <p:bldP spid="16" grpId="0" animBg="1" advAuto="0"/>
      <p:bldP spid="17" grpId="0" animBg="1" advAuto="0"/>
      <p:bldP spid="19" grpId="0" animBg="1"/>
      <p:bldP spid="20" grpId="0"/>
      <p:bldP spid="22" grpId="0" animBg="1" advAuto="0"/>
      <p:bldP spid="23" grpId="0" animBg="1" advAuto="0"/>
      <p:bldP spid="18" grpId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1349658" y="1619737"/>
            <a:ext cx="1519238" cy="3619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9601" y="0"/>
                </a:lnTo>
                <a:lnTo>
                  <a:pt x="21600" y="10779"/>
                </a:lnTo>
                <a:lnTo>
                  <a:pt x="19644" y="21600"/>
                </a:lnTo>
                <a:lnTo>
                  <a:pt x="131" y="21600"/>
                </a:lnTo>
              </a:path>
            </a:pathLst>
          </a:custGeom>
          <a:solidFill>
            <a:schemeClr val="accent1"/>
          </a:soli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03375" y="1664712"/>
            <a:ext cx="1476375" cy="259080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 algn="l">
              <a:lnSpc>
                <a:spcPct val="120000"/>
              </a:lnSpc>
              <a:defRPr sz="2600" b="1">
                <a:solidFill>
                  <a:srgbClr val="2E3B47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0000"/>
                </a:solidFill>
              </a:defRPr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mo"/>
              </a:rPr>
              <a:t>证据系统化管理</a:t>
            </a:r>
          </a:p>
        </p:txBody>
      </p:sp>
      <p:sp>
        <p:nvSpPr>
          <p:cNvPr id="7" name="任意多边形: 形状 6"/>
          <p:cNvSpPr/>
          <p:nvPr/>
        </p:nvSpPr>
        <p:spPr>
          <a:xfrm>
            <a:off x="865446" y="1565650"/>
            <a:ext cx="476250" cy="476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gradFill>
            <a:gsLst>
              <a:gs pos="100000">
                <a:srgbClr val="FFFFFF"/>
              </a:gs>
              <a:gs pos="0">
                <a:srgbClr val="D9D9D9"/>
              </a:gs>
            </a:gsLst>
            <a:lin ang="2700000" scaled="1"/>
          </a:gra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539059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03326" y="1573934"/>
            <a:ext cx="204788" cy="4406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spAutoFit/>
          </a:bodyPr>
          <a:lstStyle>
            <a:lvl1pPr>
              <a:lnSpc>
                <a:spcPct val="120000"/>
              </a:lnSpc>
              <a:defRPr sz="3000" b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0000"/>
                </a:solidFill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390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mo"/>
              </a:rPr>
              <a:t>4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5390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mo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22362" y="2388880"/>
            <a:ext cx="1957388" cy="1976755"/>
          </a:xfrm>
          <a:prstGeom prst="rect">
            <a:avLst/>
          </a:prstGeom>
          <a:ln w="12700">
            <a:miter lim="400000"/>
          </a:ln>
        </p:spPr>
        <p:txBody>
          <a:bodyPr lIns="19050" tIns="19050" rIns="19050" bIns="19050" anchor="ctr">
            <a:spAutoFit/>
          </a:bodyPr>
          <a:lstStyle/>
          <a:p>
            <a:pPr marL="0" marR="0" lvl="0" indent="0" algn="l" defTabSz="17145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9059"/>
                </a:solidFill>
                <a:effectLst/>
                <a:uLnTx/>
                <a:uFillTx/>
                <a:latin typeface="Lato Light"/>
                <a:ea typeface="+mn-ea"/>
                <a:cs typeface="+mn-cs"/>
              </a:rPr>
              <a:t>用户启动维权后可在线创建案件，登记案件事由、维权阶段、诉求及相关事实。平台自动识别图文材料并分类归档管理，标注证据来源、时间等信息。同时依据证据生成案件时间线与人物关系脉络，完整还原案件全过程，帮助用户梳理举证逻辑，查漏补缺，避免证据缺失、杂乱等问题。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5390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mo"/>
              <a:sym typeface="Arimo"/>
            </a:endParaRPr>
          </a:p>
        </p:txBody>
      </p:sp>
      <p:sp>
        <p:nvSpPr>
          <p:cNvPr id="10" name="任意多边形: 形状 9"/>
          <p:cNvSpPr/>
          <p:nvPr/>
        </p:nvSpPr>
        <p:spPr>
          <a:xfrm>
            <a:off x="4036453" y="1619737"/>
            <a:ext cx="1519238" cy="3619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9601" y="0"/>
                </a:lnTo>
                <a:lnTo>
                  <a:pt x="21600" y="10779"/>
                </a:lnTo>
                <a:lnTo>
                  <a:pt x="19644" y="21600"/>
                </a:lnTo>
                <a:lnTo>
                  <a:pt x="131" y="21600"/>
                </a:lnTo>
              </a:path>
            </a:pathLst>
          </a:custGeom>
          <a:solidFill>
            <a:schemeClr val="accent2"/>
          </a:soli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064880" y="1665200"/>
            <a:ext cx="1476375" cy="259080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 algn="l">
              <a:lnSpc>
                <a:spcPct val="120000"/>
              </a:lnSpc>
              <a:defRPr sz="2600" b="1">
                <a:solidFill>
                  <a:srgbClr val="2E3B47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0000"/>
                </a:solidFill>
              </a:defRPr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mo"/>
              </a:rPr>
              <a:t>法律文书的规范生成</a:t>
            </a:r>
          </a:p>
        </p:txBody>
      </p:sp>
      <p:sp>
        <p:nvSpPr>
          <p:cNvPr id="13" name="任意多边形: 形状 12"/>
          <p:cNvSpPr/>
          <p:nvPr/>
        </p:nvSpPr>
        <p:spPr>
          <a:xfrm>
            <a:off x="3560203" y="1566138"/>
            <a:ext cx="476250" cy="476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gradFill>
            <a:gsLst>
              <a:gs pos="100000">
                <a:srgbClr val="FFFFFF"/>
              </a:gs>
              <a:gs pos="0">
                <a:srgbClr val="D9D9D9"/>
              </a:gs>
            </a:gsLst>
            <a:lin ang="2700000" scaled="1"/>
          </a:gra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31779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698083" y="1574422"/>
            <a:ext cx="204788" cy="4406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spAutoFit/>
          </a:bodyPr>
          <a:lstStyle>
            <a:lvl1pPr>
              <a:lnSpc>
                <a:spcPct val="120000"/>
              </a:lnSpc>
              <a:defRPr sz="3000" b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0000"/>
                </a:solidFill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1779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mo"/>
              </a:rPr>
              <a:t>5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31779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mo"/>
            </a:endParaRPr>
          </a:p>
        </p:txBody>
      </p:sp>
      <p:sp>
        <p:nvSpPr>
          <p:cNvPr id="16" name="任意多边形: 形状 15"/>
          <p:cNvSpPr/>
          <p:nvPr/>
        </p:nvSpPr>
        <p:spPr>
          <a:xfrm>
            <a:off x="6759316" y="1619737"/>
            <a:ext cx="1519238" cy="3619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9601" y="0"/>
                </a:lnTo>
                <a:lnTo>
                  <a:pt x="21600" y="10779"/>
                </a:lnTo>
                <a:lnTo>
                  <a:pt x="19644" y="21600"/>
                </a:lnTo>
                <a:lnTo>
                  <a:pt x="131" y="21600"/>
                </a:lnTo>
              </a:path>
            </a:pathLst>
          </a:custGeom>
          <a:solidFill>
            <a:schemeClr val="accent3"/>
          </a:soli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751439" y="1664711"/>
            <a:ext cx="1465520" cy="259080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 algn="l">
              <a:lnSpc>
                <a:spcPct val="120000"/>
              </a:lnSpc>
              <a:defRPr sz="2600" b="1">
                <a:solidFill>
                  <a:srgbClr val="2E3B47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0000"/>
                </a:solidFill>
              </a:defRPr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mo"/>
              </a:rPr>
              <a:t>法律法规与类案检索</a:t>
            </a:r>
          </a:p>
        </p:txBody>
      </p:sp>
      <p:sp>
        <p:nvSpPr>
          <p:cNvPr id="19" name="任意多边形: 形状 18"/>
          <p:cNvSpPr/>
          <p:nvPr/>
        </p:nvSpPr>
        <p:spPr>
          <a:xfrm>
            <a:off x="6275104" y="1565650"/>
            <a:ext cx="476250" cy="476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gradFill>
            <a:gsLst>
              <a:gs pos="100000">
                <a:srgbClr val="FFFFFF"/>
              </a:gs>
              <a:gs pos="0">
                <a:srgbClr val="D9D9D9"/>
              </a:gs>
            </a:gsLst>
            <a:lin ang="2700000" scaled="1"/>
          </a:gradFill>
          <a:ln w="31750">
            <a:gradFill flip="none" rotWithShape="1"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2700000" scaled="1"/>
              <a:tileRect/>
            </a:gradFill>
          </a:ln>
          <a:effectLst>
            <a:outerShdw blurRad="2540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539059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412984" y="1573934"/>
            <a:ext cx="204788" cy="4406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spAutoFit/>
          </a:bodyPr>
          <a:lstStyle>
            <a:lvl1pPr>
              <a:lnSpc>
                <a:spcPct val="120000"/>
              </a:lnSpc>
              <a:defRPr sz="3000" b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0000"/>
                </a:solidFill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390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mo"/>
              </a:rPr>
              <a:t>6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5390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mo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639844" y="2388969"/>
            <a:ext cx="1957388" cy="2192020"/>
          </a:xfrm>
          <a:prstGeom prst="rect">
            <a:avLst/>
          </a:prstGeom>
          <a:ln w="12700">
            <a:miter lim="400000"/>
          </a:ln>
        </p:spPr>
        <p:txBody>
          <a:bodyPr lIns="19050" tIns="19050" rIns="19050" bIns="19050" anchor="ctr">
            <a:spAutoFit/>
          </a:bodyPr>
          <a:lstStyle/>
          <a:p>
            <a:pPr marL="0" marR="0" lvl="0" indent="0" algn="l" defTabSz="17145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1779F"/>
                </a:solidFill>
                <a:effectLst/>
                <a:uLnTx/>
                <a:uFillTx/>
                <a:latin typeface="Lato Light"/>
                <a:ea typeface="+mn-ea"/>
                <a:cs typeface="+mn-cs"/>
              </a:rPr>
              <a:t>用户提交维权申请前，可在平台选取所需法律文书模板，涵盖调解、投诉、仲裁、诉讼、执行及证据清单等全流程文书。填写时可直接关联案件信息、维权诉求与已有证据，无需重复录入。平台自动生成格式规范、内容完整的正式文书，并支持导出 文件，方便用户直接提交使用，避免文书格式、内容疏漏问题。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31779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mo"/>
              <a:sym typeface="Arimo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412984" y="2388791"/>
            <a:ext cx="1957388" cy="1761490"/>
          </a:xfrm>
          <a:prstGeom prst="rect">
            <a:avLst/>
          </a:prstGeom>
          <a:ln w="12700">
            <a:miter lim="400000"/>
          </a:ln>
        </p:spPr>
        <p:txBody>
          <a:bodyPr lIns="19050" tIns="19050" rIns="19050" bIns="19050" anchor="ctr">
            <a:spAutoFit/>
          </a:bodyPr>
          <a:lstStyle/>
          <a:p>
            <a:pPr marL="0" marR="0" lvl="0" indent="0" algn="l" defTabSz="17145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9059"/>
                </a:solidFill>
                <a:effectLst/>
                <a:uLnTx/>
                <a:uFillTx/>
                <a:latin typeface="Lato Light"/>
                <a:ea typeface="+mn-ea"/>
                <a:cs typeface="+mn-cs"/>
              </a:rPr>
              <a:t>用户如需明确维权法律依据、参考类案制定维权策略，可口语化输入检索内容。平台智能优化检索词，精准匹配相关法律法规与司法判例，展示完整法条与同类案件裁判要点、争议焦点。用户可依据检索结果明确法律支撑，完善证据材料，优化维权诉求与维权方案。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5390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mo"/>
              <a:sym typeface="Arimo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639844" y="248147"/>
            <a:ext cx="1617810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390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</a:rPr>
              <a:t>使用场景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240055" y="791446"/>
            <a:ext cx="2418715" cy="194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450" normalizeH="0" baseline="0" noProof="0" dirty="0">
                <a:ln>
                  <a:noFill/>
                </a:ln>
                <a:solidFill>
                  <a:srgbClr val="080808">
                    <a:alpha val="4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  <a:sym typeface="+mn-ea"/>
              </a:rPr>
              <a:t>Application Scenarios</a:t>
            </a:r>
            <a:endParaRPr kumimoji="0" lang="en-US" sz="750" b="1" i="0" u="none" strike="noStrike" kern="1200" cap="none" spc="450" normalizeH="0" baseline="0" noProof="0" dirty="0">
              <a:ln>
                <a:noFill/>
              </a:ln>
              <a:solidFill>
                <a:srgbClr val="080808">
                  <a:alpha val="4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ontserrat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6000">
        <p:fade/>
      </p:transition>
    </mc:Choice>
    <mc:Fallback xmlns="">
      <p:transition spd="med" advClick="0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indefinite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3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indefinite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800"/>
                            </p:stCondLst>
                            <p:childTnLst>
                              <p:par>
                                <p:cTn id="57" presetID="2" presetClass="entr" presetSubtype="2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indefinite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100"/>
                            </p:stCondLst>
                            <p:childTnLst>
                              <p:par>
                                <p:cTn id="62" presetID="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indefinite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indefinite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indefinite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dvAuto="0"/>
      <p:bldP spid="5" grpId="0" animBg="1" advAuto="0"/>
      <p:bldP spid="7" grpId="0" animBg="1"/>
      <p:bldP spid="8" grpId="0"/>
      <p:bldP spid="9" grpId="0" animBg="1" advAuto="0"/>
      <p:bldP spid="10" grpId="0" animBg="1" advAuto="0"/>
      <p:bldP spid="11" grpId="0" animBg="1" advAuto="0"/>
      <p:bldP spid="13" grpId="0" animBg="1"/>
      <p:bldP spid="14" grpId="0"/>
      <p:bldP spid="16" grpId="0" animBg="1" advAuto="0"/>
      <p:bldP spid="17" grpId="0" animBg="1" advAuto="0"/>
      <p:bldP spid="19" grpId="0" animBg="1"/>
      <p:bldP spid="20" grpId="0"/>
      <p:bldP spid="22" grpId="0" animBg="1" advAuto="0"/>
      <p:bldP spid="23" grpId="0" animBg="1" advAuto="0"/>
      <p:bldP spid="18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31" r="69450"/>
          <a:stretch/>
        </p:blipFill>
        <p:spPr>
          <a:xfrm>
            <a:off x="1355" y="1107440"/>
            <a:ext cx="2792646" cy="40360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94" t="28642" r="2208" b="20593"/>
          <a:stretch/>
        </p:blipFill>
        <p:spPr>
          <a:xfrm>
            <a:off x="6024881" y="1473200"/>
            <a:ext cx="2915920" cy="26111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19"/>
          <a:stretch/>
        </p:blipFill>
        <p:spPr>
          <a:xfrm>
            <a:off x="1354" y="3117252"/>
            <a:ext cx="9141291" cy="23393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27" t="64592" r="9210" b="5186"/>
          <a:stretch/>
        </p:blipFill>
        <p:spPr>
          <a:xfrm>
            <a:off x="6146801" y="3635412"/>
            <a:ext cx="2153920" cy="15544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86" t="79605" r="5987" b="7951"/>
          <a:stretch/>
        </p:blipFill>
        <p:spPr>
          <a:xfrm>
            <a:off x="7203441" y="4407572"/>
            <a:ext cx="1391920" cy="640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95" b="62667"/>
          <a:stretch/>
        </p:blipFill>
        <p:spPr>
          <a:xfrm>
            <a:off x="3299462" y="-228208"/>
            <a:ext cx="6033685" cy="192024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-18124" y="1065856"/>
            <a:ext cx="4764749" cy="742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5500" spc="225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谢谢观看</a:t>
            </a:r>
            <a:endParaRPr lang="en-US" altLang="zh-CN" sz="5500" spc="225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4496" y="2625028"/>
            <a:ext cx="1912500" cy="16875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ABB02D8-466E-E7F3-46AF-6BCC38B091E7}"/>
              </a:ext>
            </a:extLst>
          </p:cNvPr>
          <p:cNvSpPr txBox="1"/>
          <p:nvPr/>
        </p:nvSpPr>
        <p:spPr>
          <a:xfrm>
            <a:off x="398913" y="796606"/>
            <a:ext cx="1156244" cy="255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Light"/>
                <a:ea typeface="+mn-ea"/>
                <a:cs typeface="+mn-cs"/>
              </a:rPr>
              <a:t>知法</a:t>
            </a:r>
            <a:r>
              <a:rPr kumimoji="0" lang="en-US" altLang="zh-CN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Light"/>
                <a:ea typeface="+mn-ea"/>
                <a:cs typeface="+mn-cs"/>
              </a:rPr>
              <a:t>Legal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5488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7000">
        <p:fade/>
      </p:transition>
    </mc:Choice>
    <mc:Fallback xmlns:a14="http://schemas.microsoft.com/office/drawing/2010/main" xmlns="">
      <p:transition spd="med" advClick="0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5" presetClass="path" presetSubtype="0" decel="4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3073 6.17284E-7 L -0.11424 6.17284E-7 " pathEditMode="relative" rAng="0" ptsTypes="AA">
                                      <p:cBhvr>
                                        <p:cTn id="49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57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accel="40000" decel="40000" fill="hold" grpId="2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.03073 6.17284E-7 L 2.22222E-6 6.17284E-7 " pathEditMode="relative" rAng="0" ptsTypes="AA">
                                      <p:cBhvr>
                                        <p:cTn id="5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5" presetClass="path" presetSubtype="0" decel="4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073 3.7037E-7 L 0.11424 3.7037E-7 " pathEditMode="relative" rAng="0" ptsTypes="AA">
                                      <p:cBhvr>
                                        <p:cTn id="63" dur="75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40" y="0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35" presetClass="path" presetSubtype="0" accel="40000" decel="4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8.33333E-7 3.7037E-7 L -0.03073 3.7037E-7 " pathEditMode="relative" rAng="0" ptsTypes="AA">
                                      <p:cBhvr>
                                        <p:cTn id="65" dur="75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1" grpId="2"/>
      <p:bldP spid="7" grpId="0"/>
      <p:bldP spid="7" grpId="1"/>
      <p:bldP spid="7" grpId="2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Presentation"/>
</p:tagLst>
</file>

<file path=ppt/theme/theme1.xml><?xml version="1.0" encoding="utf-8"?>
<a:theme xmlns:a="http://schemas.openxmlformats.org/drawingml/2006/main" name="Office Theme">
  <a:themeElements>
    <a:clrScheme name="自定义 1164">
      <a:dk1>
        <a:srgbClr val="262626"/>
      </a:dk1>
      <a:lt1>
        <a:srgbClr val="FFFFFF"/>
      </a:lt1>
      <a:dk2>
        <a:srgbClr val="080808"/>
      </a:dk2>
      <a:lt2>
        <a:srgbClr val="FFFFFF"/>
      </a:lt2>
      <a:accent1>
        <a:srgbClr val="539059"/>
      </a:accent1>
      <a:accent2>
        <a:srgbClr val="31779F"/>
      </a:accent2>
      <a:accent3>
        <a:srgbClr val="539059"/>
      </a:accent3>
      <a:accent4>
        <a:srgbClr val="31779F"/>
      </a:accent4>
      <a:accent5>
        <a:srgbClr val="E9E9E9"/>
      </a:accent5>
      <a:accent6>
        <a:srgbClr val="31779F"/>
      </a:accent6>
      <a:hlink>
        <a:srgbClr val="539059"/>
      </a:hlink>
      <a:folHlink>
        <a:srgbClr val="31779F"/>
      </a:folHlink>
    </a:clrScheme>
    <a:fontScheme name="Lato">
      <a:majorFont>
        <a:latin typeface="Lato Regular"/>
        <a:ea typeface=""/>
        <a:cs typeface=""/>
      </a:majorFont>
      <a:minorFont>
        <a:latin typeface="La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31701</TotalTime>
  <Words>1302</Words>
  <Application>Microsoft Office PowerPoint</Application>
  <PresentationFormat>全屏显示(16:9)</PresentationFormat>
  <Paragraphs>180</Paragraphs>
  <Slides>18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Noto Sans SC</vt:lpstr>
      <vt:lpstr>思源黑体 CN Regular</vt:lpstr>
      <vt:lpstr>微软雅黑</vt:lpstr>
      <vt:lpstr>Arial</vt:lpstr>
      <vt:lpstr>Calibri</vt:lpstr>
      <vt:lpstr>Lato Light</vt:lpstr>
      <vt:lpstr>Montserrat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fpt</dc:creator>
  <cp:lastModifiedBy>guozhao tan</cp:lastModifiedBy>
  <cp:revision>2980</cp:revision>
  <dcterms:created xsi:type="dcterms:W3CDTF">2014-11-26T08:06:19Z</dcterms:created>
  <dcterms:modified xsi:type="dcterms:W3CDTF">2026-04-21T16:36:56Z</dcterms:modified>
</cp:coreProperties>
</file>